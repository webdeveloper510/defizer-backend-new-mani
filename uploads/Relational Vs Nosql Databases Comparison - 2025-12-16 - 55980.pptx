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Relational</a:t>
            </a:r>
            <a:r>
              <a:rPr/>
              <a:t> </a:t>
            </a:r>
            <a:r>
              <a:rPr/>
              <a:t>Databases</a:t>
            </a:r>
            <a:r>
              <a:rPr/>
              <a:t> </a:t>
            </a:r>
            <a:r>
              <a:rPr/>
              <a:t>(RDBMS)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/>
              <a:t>NoSQL</a:t>
            </a:r>
            <a:r>
              <a:rPr/>
              <a:t> </a:t>
            </a:r>
            <a:r>
              <a:rPr/>
              <a:t>Databases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Relational</a:t>
            </a:r>
            <a:r>
              <a:rPr/>
              <a:t> </a:t>
            </a:r>
            <a:r>
              <a:rPr/>
              <a:t>Databases</a:t>
            </a:r>
            <a:r>
              <a:rPr/>
              <a:t> </a:t>
            </a:r>
            <a:r>
              <a:rPr/>
              <a:t>(RDBMS)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Examples: MySQL, PostgreSQL, Oracle, SQL Server</a:t>
            </a:r>
            <a:br/>
            <a:r>
              <a:rPr/>
              <a:t>Structure: Data organized in tables (rows and columns)</a:t>
            </a:r>
            <a:br/>
            <a:r>
              <a:rPr/>
              <a:t>Schema: Fixed and predefined</a:t>
            </a:r>
            <a:br/>
            <a:r>
              <a:rPr/>
              <a:t>Query Language: SQL (Structured Query Language)</a:t>
            </a:r>
          </a:p>
          <a:p>
            <a:pPr lvl="0" marL="0" indent="0">
              <a:buNone/>
            </a:pPr>
            <a:r>
              <a:rPr/>
              <a:t>Relational databases are structured systems designed for consistency, reliability, and relationships between data entities.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Advantages</a:t>
            </a:r>
          </a:p>
          <a:p>
            <a:pPr lvl="1">
              <a:buAutoNum type="arabicPeriod"/>
            </a:pPr>
            <a:r>
              <a:rPr/>
              <a:t>Strong Consistency and Integrity (ACID Compliance)</a:t>
            </a:r>
          </a:p>
          <a:p>
            <a:pPr lvl="2"/>
            <a:r>
              <a:rPr/>
              <a:t>Transactions guarantee reliability through Atomicity, Consistency, Isolation, Durability.</a:t>
            </a:r>
            <a:br/>
          </a:p>
          <a:p>
            <a:pPr lvl="2"/>
            <a:r>
              <a:rPr/>
              <a:t>Ensures accurate operations — vital for financial, transactional, and enterprise data.</a:t>
            </a:r>
          </a:p>
          <a:p>
            <a:pPr lvl="1">
              <a:buAutoNum type="arabicPeriod"/>
            </a:pPr>
            <a:r>
              <a:rPr/>
              <a:t>Structured Schema and Relationships</a:t>
            </a:r>
          </a:p>
          <a:p>
            <a:pPr lvl="2"/>
            <a:r>
              <a:rPr/>
              <a:t>Enforces consistent data entry and strong data validation through defined schema and constraints.</a:t>
            </a:r>
          </a:p>
          <a:p>
            <a:pPr lvl="1">
              <a:buAutoNum type="arabicPeriod"/>
            </a:pPr>
            <a:r>
              <a:rPr/>
              <a:t>Powerful Query Capabilities (SQL)</a:t>
            </a:r>
          </a:p>
          <a:p>
            <a:pPr lvl="2"/>
            <a:r>
              <a:rPr/>
              <a:t>SQL enables complex joins, filtering, and aggregation for in-depth data analysis.</a:t>
            </a:r>
          </a:p>
          <a:p>
            <a:pPr lvl="1">
              <a:buAutoNum type="arabicPeriod"/>
            </a:pPr>
            <a:r>
              <a:rPr/>
              <a:t>Data Normalization and Reduced Redundancy</a:t>
            </a:r>
          </a:p>
          <a:p>
            <a:pPr lvl="2"/>
            <a:r>
              <a:rPr/>
              <a:t>Relational design minimizes duplication, improving storage efficiency and consistency.</a:t>
            </a:r>
          </a:p>
          <a:p>
            <a:pPr lvl="1">
              <a:buAutoNum type="arabicPeriod"/>
            </a:pPr>
            <a:r>
              <a:rPr/>
              <a:t>Mature Technology and Tools</a:t>
            </a:r>
          </a:p>
          <a:p>
            <a:pPr lvl="2"/>
            <a:r>
              <a:rPr/>
              <a:t>Proven reliability, robust security, and large ecosystem of management and analytics tools.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Disadvantages</a:t>
            </a:r>
          </a:p>
          <a:p>
            <a:pPr lvl="1">
              <a:buAutoNum type="arabicPeriod"/>
            </a:pPr>
            <a:r>
              <a:rPr/>
              <a:t>Limited Scalability</a:t>
            </a:r>
          </a:p>
          <a:p>
            <a:pPr lvl="2"/>
            <a:r>
              <a:rPr/>
              <a:t>Best suited for vertical scaling (stronger hardware), not for horizontal scaling (more servers).</a:t>
            </a:r>
          </a:p>
          <a:p>
            <a:pPr lvl="1">
              <a:buAutoNum type="arabicPeriod"/>
            </a:pPr>
            <a:r>
              <a:rPr/>
              <a:t>Rigid Schema</a:t>
            </a:r>
          </a:p>
          <a:p>
            <a:pPr lvl="2"/>
            <a:r>
              <a:rPr/>
              <a:t>Difficult to modify or adapt schema for frequently changing or semi-structured data.</a:t>
            </a:r>
          </a:p>
          <a:p>
            <a:pPr lvl="1">
              <a:buAutoNum type="arabicPeriod"/>
            </a:pPr>
            <a:r>
              <a:rPr/>
              <a:t>Performance Bottlenecks on Very Large Systems</a:t>
            </a:r>
          </a:p>
          <a:p>
            <a:pPr lvl="2"/>
            <a:r>
              <a:rPr/>
              <a:t>Complex queries and joins can slow down systems with billions of records unless finely tuned.</a:t>
            </a:r>
          </a:p>
          <a:p>
            <a:pPr lvl="1">
              <a:buAutoNum type="arabicPeriod"/>
            </a:pPr>
            <a:r>
              <a:rPr/>
              <a:t>Less Fit for Unstructured Data</a:t>
            </a:r>
          </a:p>
          <a:p>
            <a:pPr lvl="2"/>
            <a:r>
              <a:rPr/>
              <a:t>Poorly suited for dynamic data formats like JSON, XML, or multimedia content.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NoSQL</a:t>
            </a:r>
            <a:r>
              <a:rPr/>
              <a:t> </a:t>
            </a:r>
            <a:r>
              <a:rPr/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Examples: MongoDB, Cassandra, Redis, DynamoDB, Neo4j</a:t>
            </a:r>
            <a:br/>
            <a:r>
              <a:rPr/>
              <a:t>Structure: Key-Value, Document, Column, or Graph-based</a:t>
            </a:r>
            <a:br/>
            <a:r>
              <a:rPr/>
              <a:t>Schema: Flexible or schema-less</a:t>
            </a:r>
            <a:br/>
            <a:r>
              <a:rPr/>
              <a:t>Query Model: Varies by system (no single standard like SQL)</a:t>
            </a:r>
          </a:p>
          <a:p>
            <a:pPr lvl="0" marL="0" indent="0">
              <a:buNone/>
            </a:pPr>
            <a:r>
              <a:rPr/>
              <a:t>NoSQL databases are built to manage large-scale, distributed, and rapidly changing datasets with high performance and flexibility.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Advantages</a:t>
            </a:r>
          </a:p>
          <a:p>
            <a:pPr lvl="1">
              <a:buAutoNum type="arabicPeriod"/>
            </a:pPr>
            <a:r>
              <a:rPr/>
              <a:t>High Scalability (Horizontal Scaling)</a:t>
            </a:r>
          </a:p>
          <a:p>
            <a:pPr lvl="2"/>
            <a:r>
              <a:rPr/>
              <a:t>Easily distribute across servers or clusters, ideal for big data and high-traffic systems.</a:t>
            </a:r>
          </a:p>
          <a:p>
            <a:pPr lvl="1">
              <a:buAutoNum type="arabicPeriod"/>
            </a:pPr>
            <a:r>
              <a:rPr/>
              <a:t>Flexible Schema Design</a:t>
            </a:r>
          </a:p>
          <a:p>
            <a:pPr lvl="2"/>
            <a:r>
              <a:rPr/>
              <a:t>Allows storage of varying and evolving data structures without predefined schema constraints.</a:t>
            </a:r>
          </a:p>
          <a:p>
            <a:pPr lvl="1">
              <a:buAutoNum type="arabicPeriod"/>
            </a:pPr>
            <a:r>
              <a:rPr/>
              <a:t>High Performance for Specific Workloads</a:t>
            </a:r>
          </a:p>
          <a:p>
            <a:pPr lvl="2"/>
            <a:r>
              <a:rPr/>
              <a:t>Optimized for rapid writes, reads, and near real-time data processing.</a:t>
            </a:r>
          </a:p>
          <a:p>
            <a:pPr lvl="1">
              <a:buAutoNum type="arabicPeriod"/>
            </a:pPr>
            <a:r>
              <a:rPr/>
              <a:t>Handles Semi-Structured or Unstructured Data</a:t>
            </a:r>
          </a:p>
          <a:p>
            <a:pPr lvl="2"/>
            <a:r>
              <a:rPr/>
              <a:t>Perfect for JSON, sensor data, logs, or social media data.</a:t>
            </a:r>
          </a:p>
          <a:p>
            <a:pPr lvl="1">
              <a:buAutoNum type="arabicPeriod"/>
            </a:pPr>
            <a:r>
              <a:rPr/>
              <a:t>Built for Distributed Systems</a:t>
            </a:r>
          </a:p>
          <a:p>
            <a:pPr lvl="2"/>
            <a:r>
              <a:rPr/>
              <a:t>Supports features like replication, partitioning, and redundancy for high availability and fault tolerance.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Disadvantages</a:t>
            </a:r>
          </a:p>
          <a:p>
            <a:pPr lvl="1">
              <a:buAutoNum type="arabicPeriod"/>
            </a:pPr>
            <a:r>
              <a:rPr/>
              <a:t>Eventual Consistency (BASE Model)</a:t>
            </a:r>
          </a:p>
          <a:p>
            <a:pPr lvl="2"/>
            <a:r>
              <a:rPr/>
              <a:t>Uses Basically Available, Soft state, Eventually consistent — sacrifices strict consistency for availability.</a:t>
            </a:r>
          </a:p>
          <a:p>
            <a:pPr lvl="1">
              <a:buAutoNum type="arabicPeriod"/>
            </a:pPr>
            <a:r>
              <a:rPr/>
              <a:t>No Standard Query Language</a:t>
            </a:r>
          </a:p>
          <a:p>
            <a:pPr lvl="2"/>
            <a:r>
              <a:rPr/>
              <a:t>Every NoSQL system has different APIs and query approaches, requiring specialized knowledge.</a:t>
            </a:r>
          </a:p>
          <a:p>
            <a:pPr lvl="1">
              <a:buAutoNum type="arabicPeriod"/>
            </a:pPr>
            <a:r>
              <a:rPr/>
              <a:t>Data Redundancy</a:t>
            </a:r>
          </a:p>
          <a:p>
            <a:pPr lvl="2"/>
            <a:r>
              <a:rPr/>
              <a:t>Denormalization increases performance but introduces potential duplication and maintenance issues.</a:t>
            </a:r>
          </a:p>
          <a:p>
            <a:pPr lvl="1">
              <a:buAutoNum type="arabicPeriod"/>
            </a:pPr>
            <a:r>
              <a:rPr/>
              <a:t>Limited Support for Complex Queries and Relationships</a:t>
            </a:r>
          </a:p>
          <a:p>
            <a:pPr lvl="2"/>
            <a:r>
              <a:rPr/>
              <a:t>Lacks the ability to easily perform multi-table joins and advanced relational logic.</a:t>
            </a:r>
          </a:p>
          <a:p>
            <a:pPr lvl="1">
              <a:buAutoNum type="arabicPeriod"/>
            </a:pPr>
            <a:r>
              <a:rPr/>
              <a:t>Less Mature Ecosystem</a:t>
            </a:r>
          </a:p>
          <a:p>
            <a:pPr lvl="2"/>
            <a:r>
              <a:rPr/>
              <a:t>Some systems have fewer standardized tools and smaller community support compared to RDBMS.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  <a:r>
              <a:rPr/>
              <a:t> </a:t>
            </a:r>
            <a:r>
              <a:rPr/>
              <a:t>Comparison</a:t>
            </a:r>
            <a:r>
              <a:rPr/>
              <a:t> </a:t>
            </a:r>
            <a:r>
              <a:rPr/>
              <a:t>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Relational</a:t>
                      </a:r>
                      <a:r>
                        <a:rPr/>
                        <a:t> </a:t>
                      </a:r>
                      <a:r>
                        <a:rPr/>
                        <a:t>Database</a:t>
                      </a:r>
                      <a:r>
                        <a:rPr/>
                        <a:t> </a:t>
                      </a:r>
                      <a:r>
                        <a:rPr/>
                        <a:t>(RDBMS)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NoSQL</a:t>
                      </a:r>
                      <a:r>
                        <a:rPr/>
                        <a:t> </a:t>
                      </a:r>
                      <a:r>
                        <a:rPr/>
                        <a:t>Database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Tables</a:t>
                      </a:r>
                      <a:r>
                        <a:rPr/>
                        <a:t> </a:t>
                      </a:r>
                      <a:r>
                        <a:rPr/>
                        <a:t>(Rows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Columns)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Key-Value,</a:t>
                      </a:r>
                      <a:r>
                        <a:rPr/>
                        <a:t> </a:t>
                      </a:r>
                      <a:r>
                        <a:rPr/>
                        <a:t>Document,</a:t>
                      </a:r>
                      <a:r>
                        <a:rPr/>
                        <a:t> </a:t>
                      </a:r>
                      <a:r>
                        <a:rPr/>
                        <a:t>Graph,</a:t>
                      </a:r>
                      <a:r>
                        <a:rPr/>
                        <a:t> </a:t>
                      </a:r>
                      <a:r>
                        <a:rPr/>
                        <a:t>Column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Schema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Fixed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Predefined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Flexible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Schema-less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Scalability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Vertical</a:t>
                      </a:r>
                      <a:r>
                        <a:rPr/>
                        <a:t> </a:t>
                      </a:r>
                      <a:r>
                        <a:rPr/>
                        <a:t>(Scale-up)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Horizontal</a:t>
                      </a:r>
                      <a:r>
                        <a:rPr/>
                        <a:t> </a:t>
                      </a:r>
                      <a:r>
                        <a:rPr/>
                        <a:t>(Scale-out)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Consistency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Strong</a:t>
                      </a:r>
                      <a:r>
                        <a:rPr/>
                        <a:t> </a:t>
                      </a:r>
                      <a:r>
                        <a:rPr/>
                        <a:t>(ACID)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Eventual</a:t>
                      </a:r>
                      <a:r>
                        <a:rPr/>
                        <a:t> </a:t>
                      </a:r>
                      <a:r>
                        <a:rPr/>
                        <a:t>(BASE)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Query</a:t>
                      </a:r>
                      <a:r>
                        <a:rPr/>
                        <a:t> </a:t>
                      </a:r>
                      <a:r>
                        <a:rPr/>
                        <a:t>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SQL</a:t>
                      </a:r>
                      <a:r>
                        <a:rPr/>
                        <a:t> </a:t>
                      </a:r>
                      <a:r>
                        <a:rPr/>
                        <a:t>Standard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System-specific</a:t>
                      </a:r>
                      <a:r>
                        <a:rPr/>
                        <a:t> </a:t>
                      </a:r>
                      <a:r>
                        <a:rPr/>
                        <a:t>APIs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Structured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Semi-structured</a:t>
                      </a:r>
                      <a:r>
                        <a:rPr/>
                        <a:t> </a:t>
                      </a:r>
                      <a:r>
                        <a:rPr/>
                        <a:t>/</a:t>
                      </a:r>
                      <a:r>
                        <a:rPr/>
                        <a:t> </a:t>
                      </a:r>
                      <a:r>
                        <a:rPr/>
                        <a:t>Unstructured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Performance</a:t>
                      </a:r>
                      <a:r>
                        <a:rPr/>
                        <a:t> </a:t>
                      </a:r>
                      <a:r>
                        <a:rPr/>
                        <a:t>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Integrity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Speed,</a:t>
                      </a:r>
                      <a:r>
                        <a:rPr/>
                        <a:t> </a:t>
                      </a:r>
                      <a:r>
                        <a:rPr/>
                        <a:t>Scalability,</a:t>
                      </a:r>
                      <a:r>
                        <a:rPr/>
                        <a:t> </a:t>
                      </a:r>
                      <a:r>
                        <a:rPr/>
                        <a:t>Flexibility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Best</a:t>
                      </a:r>
                      <a:r>
                        <a:rPr/>
                        <a:t> </a:t>
                      </a:r>
                      <a:r>
                        <a:rPr/>
                        <a:t>Use</a:t>
                      </a:r>
                      <a:r>
                        <a:rPr/>
                        <a:t> </a:t>
                      </a:r>
                      <a:r>
                        <a:rPr/>
                        <a:t>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Financial</a:t>
                      </a:r>
                      <a:r>
                        <a:rPr/>
                        <a:t> </a:t>
                      </a:r>
                      <a:r>
                        <a:rPr/>
                        <a:t>systems,</a:t>
                      </a:r>
                      <a:r>
                        <a:rPr/>
                        <a:t> </a:t>
                      </a:r>
                      <a:r>
                        <a:rPr/>
                        <a:t>ERP,</a:t>
                      </a:r>
                      <a:r>
                        <a:rPr/>
                        <a:t> </a:t>
                      </a:r>
                      <a:r>
                        <a:rPr/>
                        <a:t>CRM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Big</a:t>
                      </a:r>
                      <a:r>
                        <a:rPr/>
                        <a:t> </a:t>
                      </a:r>
                      <a:r>
                        <a:rPr/>
                        <a:t>data,</a:t>
                      </a:r>
                      <a:r>
                        <a:rPr/>
                        <a:t> </a:t>
                      </a:r>
                      <a:r>
                        <a:rPr/>
                        <a:t>IoT,</a:t>
                      </a:r>
                      <a:r>
                        <a:rPr/>
                        <a:t> </a:t>
                      </a:r>
                      <a:r>
                        <a:rPr/>
                        <a:t>Real-time</a:t>
                      </a:r>
                      <a:r>
                        <a:rPr/>
                        <a:t> </a:t>
                      </a:r>
                      <a:r>
                        <a:rPr/>
                        <a:t>analytics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Key</a:t>
            </a:r>
            <a:r>
              <a:rPr/>
              <a:t> </a:t>
            </a: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Choose Relational Databases when:</a:t>
            </a:r>
          </a:p>
          <a:p>
            <a:pPr lvl="2"/>
            <a:r>
              <a:rPr/>
              <a:t>You require data accuracy, consistency, and structure.</a:t>
            </a:r>
            <a:br/>
          </a:p>
          <a:p>
            <a:pPr lvl="2"/>
            <a:r>
              <a:rPr/>
              <a:t>Typical for banking, inventory, ERP, CRM, and legacy enterprise applications.</a:t>
            </a:r>
          </a:p>
          <a:p>
            <a:pPr lvl="1"/>
            <a:r>
              <a:rPr/>
              <a:t>Choose NoSQL Databases when:</a:t>
            </a:r>
          </a:p>
          <a:p>
            <a:pPr lvl="2"/>
            <a:r>
              <a:rPr/>
              <a:t>You need scalability, speed, and flexibility.</a:t>
            </a:r>
            <a:br/>
          </a:p>
          <a:p>
            <a:pPr lvl="2"/>
            <a:r>
              <a:rPr/>
              <a:t>Ideal for social media platforms, IoT systems, e-commerce analytics, and real-time data streaming.</a:t>
            </a:r>
          </a:p>
          <a:p>
            <a:pPr lvl="1"/>
            <a:r>
              <a:rPr/>
              <a:t>Modern Approach: Many organizations use both via polyglot persistence — combining RDBMS for transactional data and NoSQL for scalable, unstructured, or analytical workloads.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2025-12-16T05:14:59Z</dcterms:created>
  <dcterms:modified xsi:type="dcterms:W3CDTF">2025-12-16T05:14:59Z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