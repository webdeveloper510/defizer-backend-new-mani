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Here’s a clear and structured explanation of the advantages and disadvantages of using Relational Databases (RDBMS) versus NoSQL Databases, designed to help you choose the right type for your project or organization.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Relational</a:t>
            </a:r>
            <a:r>
              <a:rPr/>
              <a:t> </a:t>
            </a:r>
            <a:r>
              <a:rPr/>
              <a:t>Databases</a:t>
            </a:r>
            <a:r>
              <a:rPr/>
              <a:t> </a:t>
            </a:r>
            <a:r>
              <a:rPr/>
              <a:t>(RDBMS)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Examples: MySQL, PostgreSQL, Oracle, SQL Server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Advantages</a:t>
            </a:r>
          </a:p>
          <a:p>
            <a:pPr lvl="1">
              <a:buAutoNum type="arabicPeriod"/>
            </a:pPr>
            <a:r>
              <a:rPr/>
              <a:t>Data Consistency and Accuracy (ACID Compliance)</a:t>
            </a:r>
          </a:p>
          <a:p>
            <a:pPr lvl="2"/>
            <a:r>
              <a:rPr/>
              <a:t>RDBMSs guarantee Atomicity, Consistency, Isolation, and Durability — ensuring transaction reliability.</a:t>
            </a:r>
            <a:br/>
          </a:p>
          <a:p>
            <a:pPr lvl="2"/>
            <a:r>
              <a:rPr/>
              <a:t>Perfect for systems where data integrity can’t be compromised (e.g., banking, inventory, accounting).</a:t>
            </a:r>
          </a:p>
          <a:p>
            <a:pPr lvl="1">
              <a:buAutoNum type="arabicPeriod"/>
            </a:pPr>
            <a:r>
              <a:rPr/>
              <a:t>Structured and Defined Schema</a:t>
            </a:r>
          </a:p>
          <a:p>
            <a:pPr lvl="2"/>
            <a:r>
              <a:rPr/>
              <a:t>Data is organized into clear tables (rows and columns) with predefined relationships.</a:t>
            </a:r>
            <a:br/>
          </a:p>
          <a:p>
            <a:pPr lvl="2"/>
            <a:r>
              <a:rPr/>
              <a:t>Enforces structure and reduces data duplication.</a:t>
            </a:r>
          </a:p>
          <a:p>
            <a:pPr lvl="1">
              <a:buAutoNum type="arabicPeriod"/>
            </a:pPr>
            <a:r>
              <a:rPr/>
              <a:t>Powerful Querying via SQL</a:t>
            </a:r>
          </a:p>
          <a:p>
            <a:pPr lvl="2"/>
            <a:r>
              <a:rPr/>
              <a:t>SQL is a universal, standardized language.</a:t>
            </a:r>
            <a:br/>
          </a:p>
          <a:p>
            <a:pPr lvl="2"/>
            <a:r>
              <a:rPr/>
              <a:t>Supports complex joins, aggregations, and filters easily.</a:t>
            </a:r>
          </a:p>
          <a:p>
            <a:pPr lvl="1">
              <a:buAutoNum type="arabicPeriod"/>
            </a:pPr>
            <a:r>
              <a:rPr/>
              <a:t>Data Integrity and Relationships</a:t>
            </a:r>
          </a:p>
          <a:p>
            <a:pPr lvl="2"/>
            <a:r>
              <a:rPr/>
              <a:t>Foreign keys, constraints, and normalization ensure data accuracy and reduce redundancy.</a:t>
            </a:r>
          </a:p>
          <a:p>
            <a:pPr lvl="1">
              <a:buAutoNum type="arabicPeriod"/>
            </a:pPr>
            <a:r>
              <a:rPr/>
              <a:t>Mature Ecosystem</a:t>
            </a:r>
          </a:p>
          <a:p>
            <a:pPr lvl="2"/>
            <a:r>
              <a:rPr/>
              <a:t>Long-established tools for backup, recovery, security, and performance monitoring.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Disadvantages</a:t>
            </a:r>
          </a:p>
          <a:p>
            <a:pPr lvl="1">
              <a:buAutoNum type="arabicPeriod"/>
            </a:pPr>
            <a:r>
              <a:rPr/>
              <a:t>Limited Scalability</a:t>
            </a:r>
          </a:p>
          <a:p>
            <a:pPr lvl="2"/>
            <a:r>
              <a:rPr/>
              <a:t>Typically scales vertically (by increasing CPU/RAM on one machine), which becomes expensive and limited at large scales.</a:t>
            </a:r>
            <a:br/>
          </a:p>
          <a:p>
            <a:pPr lvl="2"/>
            <a:r>
              <a:rPr/>
              <a:t>Horizontal scaling (adding more servers) is more complex.</a:t>
            </a:r>
          </a:p>
          <a:p>
            <a:pPr lvl="1">
              <a:buAutoNum type="arabicPeriod"/>
            </a:pPr>
            <a:r>
              <a:rPr/>
              <a:t>Rigid Schema</a:t>
            </a:r>
          </a:p>
          <a:p>
            <a:pPr lvl="2"/>
            <a:r>
              <a:rPr/>
              <a:t>Changes to the database schema (adding columns, altering data types) can require downtime or migrations.</a:t>
            </a:r>
          </a:p>
          <a:p>
            <a:pPr lvl="1">
              <a:buAutoNum type="arabicPeriod"/>
            </a:pPr>
            <a:r>
              <a:rPr/>
              <a:t>Performance with Huge Datasets</a:t>
            </a:r>
          </a:p>
          <a:p>
            <a:pPr lvl="2"/>
            <a:r>
              <a:rPr/>
              <a:t>Large, complex queries across massive data may slow performance.</a:t>
            </a:r>
          </a:p>
          <a:p>
            <a:pPr lvl="1">
              <a:buAutoNum type="arabicPeriod"/>
            </a:pPr>
            <a:r>
              <a:rPr/>
              <a:t>Not Ideal for Unstructured Data</a:t>
            </a:r>
          </a:p>
          <a:p>
            <a:pPr lvl="2"/>
            <a:r>
              <a:rPr/>
              <a:t>Struggles to handle data that is semi-structured or unstructured (like JSON, multimedia, IoT data).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NoSQL</a:t>
            </a:r>
            <a:r>
              <a:rPr/>
              <a:t> </a:t>
            </a:r>
            <a:r>
              <a:rPr/>
              <a:t>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Examples: MongoDB, Cassandra, Redis, DynamoDB, Neo4j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Advantages</a:t>
            </a:r>
          </a:p>
          <a:p>
            <a:pPr lvl="1">
              <a:buAutoNum type="arabicPeriod"/>
            </a:pPr>
            <a:r>
              <a:rPr/>
              <a:t>Flexible Schema</a:t>
            </a:r>
          </a:p>
          <a:p>
            <a:pPr lvl="2"/>
            <a:r>
              <a:rPr/>
              <a:t>Does not require a fixed schema — supports dynamic data structures like JSON or key-value pairs.</a:t>
            </a:r>
            <a:br/>
          </a:p>
          <a:p>
            <a:pPr lvl="2"/>
            <a:r>
              <a:rPr/>
              <a:t>Excellent for agile development and evolving data models.</a:t>
            </a:r>
          </a:p>
          <a:p>
            <a:pPr lvl="1">
              <a:buAutoNum type="arabicPeriod"/>
            </a:pPr>
            <a:r>
              <a:rPr/>
              <a:t>Scalability (Horizontal Scaling)</a:t>
            </a:r>
          </a:p>
          <a:p>
            <a:pPr lvl="2"/>
            <a:r>
              <a:rPr/>
              <a:t>Designed for distributed architectures, allowing you to scale by adding servers.</a:t>
            </a:r>
            <a:br/>
          </a:p>
          <a:p>
            <a:pPr lvl="2"/>
            <a:r>
              <a:rPr/>
              <a:t>Perfect for handling large volumes of data with high read/write demands.</a:t>
            </a:r>
          </a:p>
          <a:p>
            <a:pPr lvl="1">
              <a:buAutoNum type="arabicPeriod"/>
            </a:pPr>
            <a:r>
              <a:rPr/>
              <a:t>High Performance</a:t>
            </a:r>
          </a:p>
          <a:p>
            <a:pPr lvl="2"/>
            <a:r>
              <a:rPr/>
              <a:t>Optimized for speed, especially for real-time analytics, IoT, and large-scale web apps.</a:t>
            </a:r>
          </a:p>
          <a:p>
            <a:pPr lvl="1">
              <a:buAutoNum type="arabicPeriod"/>
            </a:pPr>
            <a:r>
              <a:rPr/>
              <a:t>Supports Various Data Models</a:t>
            </a:r>
          </a:p>
          <a:p>
            <a:pPr lvl="2"/>
            <a:r>
              <a:rPr/>
              <a:t>Document (e.g., MongoDB)</a:t>
            </a:r>
            <a:br/>
          </a:p>
          <a:p>
            <a:pPr lvl="2"/>
            <a:r>
              <a:rPr/>
              <a:t>Key-Value (e.g., Redis)</a:t>
            </a:r>
            <a:br/>
          </a:p>
          <a:p>
            <a:pPr lvl="2"/>
            <a:r>
              <a:rPr/>
              <a:t>Column-Family (e.g., Cassandra)</a:t>
            </a:r>
            <a:br/>
          </a:p>
          <a:p>
            <a:pPr lvl="2"/>
            <a:r>
              <a:rPr/>
              <a:t>Graph (e.g., Neo4j)</a:t>
            </a:r>
            <a:br/>
          </a:p>
          <a:p>
            <a:pPr lvl="2"/>
            <a:r>
              <a:rPr/>
              <a:t>This flexibility lets you choose a database that best matches your data type and use case.</a:t>
            </a:r>
          </a:p>
          <a:p>
            <a:pPr lvl="1">
              <a:buAutoNum type="arabicPeriod"/>
            </a:pPr>
            <a:r>
              <a:rPr/>
              <a:t>High Availability and Fault Tolerance</a:t>
            </a:r>
          </a:p>
          <a:p>
            <a:pPr lvl="2"/>
            <a:r>
              <a:rPr/>
              <a:t>Built-in replication and partitioning (sharding) for continuous availability even if a node fails.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Disadvantages</a:t>
            </a:r>
          </a:p>
          <a:p>
            <a:pPr lvl="1">
              <a:buAutoNum type="arabicPeriod"/>
            </a:pPr>
            <a:r>
              <a:rPr/>
              <a:t>Weaker Consistency Model</a:t>
            </a:r>
          </a:p>
          <a:p>
            <a:pPr lvl="2"/>
            <a:r>
              <a:rPr/>
              <a:t>Many NoSQL databases rely on eventual consistency instead of strict ACID compliance.</a:t>
            </a:r>
            <a:br/>
          </a:p>
          <a:p>
            <a:pPr lvl="2"/>
            <a:r>
              <a:rPr/>
              <a:t>Not ideal when instant accuracy is mandatory across systems.</a:t>
            </a:r>
          </a:p>
          <a:p>
            <a:pPr lvl="1">
              <a:buAutoNum type="arabicPeriod"/>
            </a:pPr>
            <a:r>
              <a:rPr/>
              <a:t>Lack of Standard Query Language</a:t>
            </a:r>
          </a:p>
          <a:p>
            <a:pPr lvl="2"/>
            <a:r>
              <a:rPr/>
              <a:t>No universal query syntax comparable to SQL — query methods vary across NoSQL platforms.</a:t>
            </a:r>
          </a:p>
          <a:p>
            <a:pPr lvl="1">
              <a:buAutoNum type="arabicPeriod"/>
            </a:pPr>
            <a:r>
              <a:rPr/>
              <a:t>Complex Transactions</a:t>
            </a:r>
          </a:p>
          <a:p>
            <a:pPr lvl="2"/>
            <a:r>
              <a:rPr/>
              <a:t>Multi-document or cross-record transactions may be difficult or limited.</a:t>
            </a:r>
          </a:p>
          <a:p>
            <a:pPr lvl="1">
              <a:buAutoNum type="arabicPeriod"/>
            </a:pPr>
            <a:r>
              <a:rPr/>
              <a:t>Less Mature Ecosystem</a:t>
            </a:r>
          </a:p>
          <a:p>
            <a:pPr lvl="2"/>
            <a:r>
              <a:rPr/>
              <a:t>Compared to RDBMS, some NoSQL databases have less-developed tools and fewer standardized best practices.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Comparison</a:t>
            </a:r>
            <a:r>
              <a:rPr/>
              <a:t> </a:t>
            </a:r>
            <a:r>
              <a:rPr/>
              <a:t>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Relational</a:t>
                      </a:r>
                      <a:r>
                        <a:rPr/>
                        <a:t> </a:t>
                      </a:r>
                      <a:r>
                        <a:rPr/>
                        <a:t>(RDBMS)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NoSQL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Tables</a:t>
                      </a:r>
                      <a:r>
                        <a:rPr/>
                        <a:t> </a:t>
                      </a:r>
                      <a:r>
                        <a:rPr/>
                        <a:t>(rows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columns)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Key-Value,</a:t>
                      </a:r>
                      <a:r>
                        <a:rPr/>
                        <a:t> </a:t>
                      </a:r>
                      <a:r>
                        <a:rPr/>
                        <a:t>Document,</a:t>
                      </a:r>
                      <a:r>
                        <a:rPr/>
                        <a:t> </a:t>
                      </a:r>
                      <a:r>
                        <a:rPr/>
                        <a:t>Graph,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Column-based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Schema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Fixed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predefined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Flexible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schema-less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Scalability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Vertical</a:t>
                      </a:r>
                      <a:r>
                        <a:rPr/>
                        <a:t> </a:t>
                      </a:r>
                      <a:r>
                        <a:rPr/>
                        <a:t>(scale-up)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Horizontal</a:t>
                      </a:r>
                      <a:r>
                        <a:rPr/>
                        <a:t> </a:t>
                      </a:r>
                      <a:r>
                        <a:rPr/>
                        <a:t>(scale-out)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Consistency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Strong</a:t>
                      </a:r>
                      <a:r>
                        <a:rPr/>
                        <a:t> </a:t>
                      </a:r>
                      <a:r>
                        <a:rPr/>
                        <a:t>(ACID)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Eventual</a:t>
                      </a:r>
                      <a:r>
                        <a:rPr/>
                        <a:t> </a:t>
                      </a:r>
                      <a:r>
                        <a:rPr/>
                        <a:t>(in</a:t>
                      </a:r>
                      <a:r>
                        <a:rPr/>
                        <a:t> </a:t>
                      </a:r>
                      <a:r>
                        <a:rPr/>
                        <a:t>most</a:t>
                      </a:r>
                      <a:r>
                        <a:rPr/>
                        <a:t> </a:t>
                      </a:r>
                      <a:r>
                        <a:rPr/>
                        <a:t>cases)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Query</a:t>
                      </a:r>
                      <a:r>
                        <a:rPr/>
                        <a:t> </a:t>
                      </a:r>
                      <a:r>
                        <a:rPr/>
                        <a:t>Language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SQL</a:t>
                      </a:r>
                      <a:r>
                        <a:rPr/>
                        <a:t> </a:t>
                      </a:r>
                      <a:r>
                        <a:rPr/>
                        <a:t>(standardized)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Varies</a:t>
                      </a:r>
                      <a:r>
                        <a:rPr/>
                        <a:t> </a:t>
                      </a:r>
                      <a:r>
                        <a:rPr/>
                        <a:t>between</a:t>
                      </a:r>
                      <a:r>
                        <a:rPr/>
                        <a:t> </a:t>
                      </a:r>
                      <a:r>
                        <a:rPr/>
                        <a:t>databases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Performance</a:t>
                      </a:r>
                      <a:r>
                        <a:rPr/>
                        <a:t> </a:t>
                      </a:r>
                      <a:r>
                        <a:rPr/>
                        <a:t>with</a:t>
                      </a:r>
                      <a:r>
                        <a:rPr/>
                        <a:t> </a:t>
                      </a:r>
                      <a:r>
                        <a:rPr/>
                        <a:t>Big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Excellent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Best</a:t>
                      </a:r>
                      <a:r>
                        <a:rPr/>
                        <a:t> </a:t>
                      </a:r>
                      <a:r>
                        <a:rPr/>
                        <a:t>Use</a:t>
                      </a:r>
                      <a:r>
                        <a:rPr/>
                        <a:t> </a:t>
                      </a:r>
                      <a:r>
                        <a:rPr/>
                        <a:t>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Banking,</a:t>
                      </a:r>
                      <a:r>
                        <a:rPr/>
                        <a:t> </a:t>
                      </a:r>
                      <a:r>
                        <a:rPr/>
                        <a:t>ERP,</a:t>
                      </a:r>
                      <a:r>
                        <a:rPr/>
                        <a:t> </a:t>
                      </a:r>
                      <a:r>
                        <a:rPr/>
                        <a:t>CRM,</a:t>
                      </a:r>
                      <a:r>
                        <a:rPr/>
                        <a:t> </a:t>
                      </a:r>
                      <a:r>
                        <a:rPr/>
                        <a:t>accounting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IoT,</a:t>
                      </a:r>
                      <a:r>
                        <a:rPr/>
                        <a:t> </a:t>
                      </a:r>
                      <a:r>
                        <a:rPr/>
                        <a:t>social</a:t>
                      </a:r>
                      <a:r>
                        <a:rPr/>
                        <a:t> </a:t>
                      </a:r>
                      <a:r>
                        <a:rPr/>
                        <a:t>apps,</a:t>
                      </a:r>
                      <a:r>
                        <a:rPr/>
                        <a:t> </a:t>
                      </a:r>
                      <a:r>
                        <a:rPr/>
                        <a:t>analytics,</a:t>
                      </a:r>
                      <a:r>
                        <a:rPr/>
                        <a:t> </a:t>
                      </a:r>
                      <a:r>
                        <a:rPr/>
                        <a:t>dynamic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Maturity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Very</a:t>
                      </a:r>
                      <a:r>
                        <a:rPr/>
                        <a:t> </a:t>
                      </a:r>
                      <a:r>
                        <a:rPr/>
                        <a:t>mature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Rapidly</a:t>
                      </a:r>
                      <a:r>
                        <a:rPr/>
                        <a:t> </a:t>
                      </a:r>
                      <a:r>
                        <a:rPr/>
                        <a:t>evolving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Choose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Use Relational Databases when:</a:t>
            </a:r>
          </a:p>
          <a:p>
            <a:pPr lvl="1"/>
            <a:r>
              <a:rPr/>
              <a:t>You need strict consistency, structured data, and complex queries.</a:t>
            </a:r>
            <a:br/>
          </a:p>
          <a:p>
            <a:pPr lvl="1"/>
            <a:r>
              <a:rPr/>
              <a:t>Example: e-commerce transactions, financial systems, ERP systems.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Use NoSQL Databases when:</a:t>
            </a:r>
          </a:p>
          <a:p>
            <a:pPr lvl="1"/>
            <a:r>
              <a:rPr/>
              <a:t>You need flexibility, scalability, and can tolerate eventual consistency.</a:t>
            </a:r>
            <a:br/>
          </a:p>
          <a:p>
            <a:pPr lvl="1"/>
            <a:r>
              <a:rPr/>
              <a:t>Example: IoT data streams, content management, social media feeds.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In Summary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RDBMS</a:t>
                      </a:r>
                      <a:r>
                        <a:rPr/>
                        <a:t> </a:t>
                      </a:r>
                      <a:r>
                        <a:rPr/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Consistency,</a:t>
                      </a:r>
                      <a:r>
                        <a:rPr/>
                        <a:t> </a:t>
                      </a:r>
                      <a:r>
                        <a:rPr/>
                        <a:t>Structure,</a:t>
                      </a:r>
                      <a:r>
                        <a:rPr/>
                        <a:t> </a:t>
                      </a:r>
                      <a:r>
                        <a:rPr/>
                        <a:t>Integrity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NoSQL</a:t>
                      </a:r>
                      <a:r>
                        <a:rPr/>
                        <a:t> </a:t>
                      </a:r>
                      <a:r>
                        <a:rPr/>
                        <a:t>Strength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Scalability,</a:t>
                      </a:r>
                      <a:r>
                        <a:rPr/>
                        <a:t> </a:t>
                      </a:r>
                      <a:r>
                        <a:rPr/>
                        <a:t>Flexibility,</a:t>
                      </a:r>
                      <a:r>
                        <a:rPr/>
                        <a:t> </a:t>
                      </a:r>
                      <a:r>
                        <a:rPr/>
                        <a:t>Speed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2025-12-15T10:34:27Z</dcterms:created>
  <dcterms:modified xsi:type="dcterms:W3CDTF">2025-12-15T10:34:27Z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