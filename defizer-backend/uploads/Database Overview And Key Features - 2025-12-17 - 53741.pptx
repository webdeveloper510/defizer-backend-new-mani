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3" autoAdjust="0"/>
    <p:restoredTop sz="94711" autoAdjust="0"/>
  </p:normalViewPr>
  <p:slideViewPr>
    <p:cSldViewPr snapToGrid="0" snapToObjects="1">
      <p:cViewPr varScale="1">
        <p:scale>
          <a:sx n="84" d="100"/>
          <a:sy n="84" d="100"/>
        </p:scale>
        <p:origin x="127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7" Type="http://schemas.openxmlformats.org/officeDocument/2006/relationships/viewProps" Target="viewProps.xml" /><Relationship Id="rId6" Type="http://schemas.openxmlformats.org/officeDocument/2006/relationships/presProps" Target="presProps.xml" /><Relationship Id="rId1" Type="http://schemas.openxmlformats.org/officeDocument/2006/relationships/slideMaster" Target="slideMasters/slideMaster1.xml" /><Relationship Id="rId9" Type="http://schemas.openxmlformats.org/officeDocument/2006/relationships/tableStyles" Target="tableStyles.xml" /><Relationship Id="rId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41EB5C9-1307-BA42-ABA2-0BC069CD8E7F}"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41EB5C9-1307-BA42-ABA2-0BC069CD8E7F}" type="datetimeFigureOut">
              <a:rPr lang="en-US" smtClean="0"/>
              <a:t>4/5/2019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41EB5C9-1307-BA42-ABA2-0BC069CD8E7F}" type="datetimeFigureOut">
              <a:rPr lang="en-US" smtClean="0"/>
              <a:t>4/5/2019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4/5/2019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1EB5C9-1307-BA42-ABA2-0BC069CD8E7F}" type="datetimeFigureOut">
              <a:rPr lang="en-US" smtClean="0"/>
              <a:t>4/5/2019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Database</a:t>
            </a:r>
            <a:r>
              <a:rPr/>
              <a:t> </a:t>
            </a:r>
            <a:r>
              <a:rPr/>
              <a:t>Overview</a:t>
            </a:r>
          </a:p>
        </p:txBody>
      </p:sp>
      <p:sp>
        <p:nvSpPr>
          <p:cNvPr id="3" name="Content Placeholder 2"/>
          <p:cNvSpPr>
            <a:spLocks noGrp="1"/>
          </p:cNvSpPr>
          <p:nvPr>
            <p:ph idx="1"/>
          </p:nvPr>
        </p:nvSpPr>
        <p:spPr/>
        <p:txBody>
          <a:bodyPr/>
          <a:lstStyle/>
          <a:p>
            <a:pPr lvl="0" marL="0" indent="0">
              <a:buNone/>
            </a:pPr>
            <a:r>
              <a:rPr/>
              <a:t>A database is an organized collection of data that is stored and accessed electronically. It provides mechanisms for storing, retrieving, and managing data efficiently, ensuring that data remains consistent, secure, and readily available for various applications.</a:t>
            </a:r>
          </a:p>
          <a:p>
            <a:pPr lvl="0" marL="0" indent="0">
              <a:spcBef>
                <a:spcPts val="3000"/>
              </a:spcBef>
              <a:buNone/>
            </a:pPr>
            <a:r>
              <a:rPr b="1"/>
              <a:t>Key Features of Databases</a:t>
            </a:r>
          </a:p>
          <a:p>
            <a:pPr lvl="1"/>
            <a:r>
              <a:rPr/>
              <a:t>Data Organization &amp; Storage: Databases structure data in a way that allows for efficient retrieval and modification.</a:t>
            </a:r>
          </a:p>
          <a:p>
            <a:pPr lvl="1"/>
            <a:r>
              <a:rPr/>
              <a:t>Transaction Management: Ensures that all database operations are completed successfully, maintaining data integrity and consistency through ACID properties.</a:t>
            </a:r>
          </a:p>
          <a:p>
            <a:pPr lvl="1"/>
            <a:r>
              <a:rPr/>
              <a:t>Security: Protects data against unauthorized access with various security measures including authentication and encryption.</a:t>
            </a:r>
          </a:p>
          <a:p>
            <a:pPr lvl="1"/>
            <a:r>
              <a:rPr/>
              <a:t>Concurrency Control: Allows multiple users to access data simultaneously without conflicts.</a:t>
            </a:r>
          </a:p>
          <a:p>
            <a:pPr lvl="1"/>
            <a:r>
              <a:rPr/>
              <a:t>Scalability: Handles increasing amounts of data and users, scaling vertically or horizontally as needed.</a:t>
            </a:r>
          </a:p>
          <a:p>
            <a:pPr lvl="1"/>
            <a:r>
              <a:rPr/>
              <a:t>Backup and Recovery: Provides disaster recovery capabilities to restore data after failures.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Comparison</a:t>
            </a:r>
            <a:r>
              <a:rPr/>
              <a:t> </a:t>
            </a:r>
            <a:r>
              <a:rPr/>
              <a:t>of</a:t>
            </a:r>
            <a:r>
              <a:rPr/>
              <a:t> </a:t>
            </a:r>
            <a:r>
              <a:rPr/>
              <a:t>Relational</a:t>
            </a:r>
            <a:r>
              <a:rPr/>
              <a:t> </a:t>
            </a:r>
            <a:r>
              <a:rPr/>
              <a:t>Databases</a:t>
            </a:r>
            <a:r>
              <a:rPr/>
              <a:t> </a:t>
            </a:r>
            <a:r>
              <a:rPr/>
              <a:t>vs. NoSQL</a:t>
            </a:r>
            <a:r>
              <a:rPr/>
              <a:t> </a:t>
            </a:r>
            <a:r>
              <a:rPr/>
              <a:t>Databases</a:t>
            </a:r>
          </a:p>
        </p:txBody>
      </p:sp>
      <p:graphicFrame>
        <p:nvGraphicFramePr>
          <p:cNvPr id="6" name="Content Placeholder 5"/>
          <p:cNvGraphicFramePr>
            <a:graphicFrameLocks noGrp="1"/>
          </p:cNvGraphicFramePr>
          <p:nvPr>
            <p:ph idx="1"/>
          </p:nvPr>
        </p:nvGraphicFramePr>
        <p:xfrm>
          <a:off x="457200" y="1600200"/>
          <a:ext cx="8229600" cy="45212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marL="0" indent="0">
                        <a:buNone/>
                      </a:pPr>
                      <a:r>
                        <a:rPr/>
                        <a:t>Feature/Aspect</a:t>
                      </a:r>
                    </a:p>
                  </a:txBody>
                  <a:tcPr/>
                </a:tc>
                <a:tc>
                  <a:txBody>
                    <a:bodyPr/>
                    <a:lstStyle/>
                    <a:p>
                      <a:pPr lvl="0" marL="0" indent="0">
                        <a:buNone/>
                      </a:pPr>
                      <a:r>
                        <a:rPr/>
                        <a:t>Relational</a:t>
                      </a:r>
                      <a:r>
                        <a:rPr/>
                        <a:t> </a:t>
                      </a:r>
                      <a:r>
                        <a:rPr/>
                        <a:t>Databases</a:t>
                      </a:r>
                    </a:p>
                  </a:txBody>
                  <a:tcPr/>
                </a:tc>
                <a:tc>
                  <a:txBody>
                    <a:bodyPr/>
                    <a:lstStyle/>
                    <a:p>
                      <a:pPr lvl="0" marL="0" indent="0">
                        <a:buNone/>
                      </a:pPr>
                      <a:r>
                        <a:rPr/>
                        <a:t>NoSQL</a:t>
                      </a:r>
                      <a:r>
                        <a:rPr/>
                        <a:t> </a:t>
                      </a:r>
                      <a:r>
                        <a:rPr/>
                        <a:t>Databases</a:t>
                      </a:r>
                    </a:p>
                  </a:txBody>
                  <a:tcPr/>
                </a:tc>
              </a:tr>
              <a:tr h="0">
                <a:tc>
                  <a:txBody>
                    <a:bodyPr/>
                    <a:lstStyle/>
                    <a:p>
                      <a:pPr lvl="0" marL="0" indent="0">
                        <a:buNone/>
                      </a:pPr>
                      <a:r>
                        <a:rPr/>
                        <a:t>Data</a:t>
                      </a:r>
                      <a:r>
                        <a:rPr/>
                        <a:t> </a:t>
                      </a:r>
                      <a:r>
                        <a:rPr/>
                        <a:t>Model</a:t>
                      </a:r>
                    </a:p>
                  </a:txBody>
                </a:tc>
                <a:tc>
                  <a:txBody>
                    <a:bodyPr/>
                    <a:lstStyle/>
                    <a:p>
                      <a:pPr lvl="0" marL="0" indent="0">
                        <a:buNone/>
                      </a:pPr>
                      <a:r>
                        <a:rPr/>
                        <a:t>Uses</a:t>
                      </a:r>
                      <a:r>
                        <a:rPr/>
                        <a:t> </a:t>
                      </a:r>
                      <a:r>
                        <a:rPr/>
                        <a:t>tables</a:t>
                      </a:r>
                      <a:r>
                        <a:rPr/>
                        <a:t> </a:t>
                      </a:r>
                      <a:r>
                        <a:rPr/>
                        <a:t>with</a:t>
                      </a:r>
                      <a:r>
                        <a:rPr/>
                        <a:t> </a:t>
                      </a:r>
                      <a:r>
                        <a:rPr/>
                        <a:t>rows</a:t>
                      </a:r>
                      <a:r>
                        <a:rPr/>
                        <a:t> </a:t>
                      </a:r>
                      <a:r>
                        <a:rPr/>
                        <a:t>and</a:t>
                      </a:r>
                      <a:r>
                        <a:rPr/>
                        <a:t> </a:t>
                      </a:r>
                      <a:r>
                        <a:rPr/>
                        <a:t>columns,</a:t>
                      </a:r>
                      <a:r>
                        <a:rPr/>
                        <a:t> </a:t>
                      </a:r>
                      <a:r>
                        <a:rPr/>
                        <a:t>fixed</a:t>
                      </a:r>
                      <a:r>
                        <a:rPr/>
                        <a:t> </a:t>
                      </a:r>
                      <a:r>
                        <a:rPr/>
                        <a:t>schema</a:t>
                      </a:r>
                    </a:p>
                  </a:txBody>
                </a:tc>
                <a:tc>
                  <a:txBody>
                    <a:bodyPr/>
                    <a:lstStyle/>
                    <a:p>
                      <a:pPr lvl="0" marL="0" indent="0">
                        <a:buNone/>
                      </a:pPr>
                      <a:r>
                        <a:rPr/>
                        <a:t>Flexible</a:t>
                      </a:r>
                      <a:r>
                        <a:rPr/>
                        <a:t> </a:t>
                      </a:r>
                      <a:r>
                        <a:rPr/>
                        <a:t>schemas</a:t>
                      </a:r>
                      <a:r>
                        <a:rPr/>
                        <a:t> </a:t>
                      </a:r>
                      <a:r>
                        <a:rPr/>
                        <a:t>such</a:t>
                      </a:r>
                      <a:r>
                        <a:rPr/>
                        <a:t> </a:t>
                      </a:r>
                      <a:r>
                        <a:rPr/>
                        <a:t>as</a:t>
                      </a:r>
                      <a:r>
                        <a:rPr/>
                        <a:t> </a:t>
                      </a:r>
                      <a:r>
                        <a:rPr/>
                        <a:t>document,</a:t>
                      </a:r>
                      <a:r>
                        <a:rPr/>
                        <a:t> </a:t>
                      </a:r>
                      <a:r>
                        <a:rPr/>
                        <a:t>key-value,</a:t>
                      </a:r>
                      <a:r>
                        <a:rPr/>
                        <a:t> </a:t>
                      </a:r>
                      <a:r>
                        <a:rPr/>
                        <a:t>graph,</a:t>
                      </a:r>
                      <a:r>
                        <a:rPr/>
                        <a:t> </a:t>
                      </a:r>
                      <a:r>
                        <a:rPr/>
                        <a:t>or</a:t>
                      </a:r>
                      <a:r>
                        <a:rPr/>
                        <a:t> </a:t>
                      </a:r>
                      <a:r>
                        <a:rPr/>
                        <a:t>column-based</a:t>
                      </a:r>
                    </a:p>
                  </a:txBody>
                </a:tc>
              </a:tr>
              <a:tr h="0">
                <a:tc>
                  <a:txBody>
                    <a:bodyPr/>
                    <a:lstStyle/>
                    <a:p>
                      <a:pPr lvl="0" marL="0" indent="0">
                        <a:buNone/>
                      </a:pPr>
                      <a:r>
                        <a:rPr/>
                        <a:t>Scalability</a:t>
                      </a:r>
                    </a:p>
                  </a:txBody>
                </a:tc>
                <a:tc>
                  <a:txBody>
                    <a:bodyPr/>
                    <a:lstStyle/>
                    <a:p>
                      <a:pPr lvl="0" marL="0" indent="0">
                        <a:buNone/>
                      </a:pPr>
                      <a:r>
                        <a:rPr/>
                        <a:t>Primarily</a:t>
                      </a:r>
                      <a:r>
                        <a:rPr/>
                        <a:t> </a:t>
                      </a:r>
                      <a:r>
                        <a:rPr/>
                        <a:t>vertical</a:t>
                      </a:r>
                      <a:r>
                        <a:rPr/>
                        <a:t> </a:t>
                      </a:r>
                      <a:r>
                        <a:rPr/>
                        <a:t>scaling</a:t>
                      </a:r>
                    </a:p>
                  </a:txBody>
                </a:tc>
                <a:tc>
                  <a:txBody>
                    <a:bodyPr/>
                    <a:lstStyle/>
                    <a:p>
                      <a:pPr lvl="0" marL="0" indent="0">
                        <a:buNone/>
                      </a:pPr>
                      <a:r>
                        <a:rPr/>
                        <a:t>Naturally</a:t>
                      </a:r>
                      <a:r>
                        <a:rPr/>
                        <a:t> </a:t>
                      </a:r>
                      <a:r>
                        <a:rPr/>
                        <a:t>supports</a:t>
                      </a:r>
                      <a:r>
                        <a:rPr/>
                        <a:t> </a:t>
                      </a:r>
                      <a:r>
                        <a:rPr/>
                        <a:t>horizontal</a:t>
                      </a:r>
                      <a:r>
                        <a:rPr/>
                        <a:t> </a:t>
                      </a:r>
                      <a:r>
                        <a:rPr/>
                        <a:t>scaling</a:t>
                      </a:r>
                    </a:p>
                  </a:txBody>
                </a:tc>
              </a:tr>
              <a:tr h="0">
                <a:tc>
                  <a:txBody>
                    <a:bodyPr/>
                    <a:lstStyle/>
                    <a:p>
                      <a:pPr lvl="0" marL="0" indent="0">
                        <a:buNone/>
                      </a:pPr>
                      <a:r>
                        <a:rPr/>
                        <a:t>Query</a:t>
                      </a:r>
                      <a:r>
                        <a:rPr/>
                        <a:t> </a:t>
                      </a:r>
                      <a:r>
                        <a:rPr/>
                        <a:t>Language</a:t>
                      </a:r>
                    </a:p>
                  </a:txBody>
                </a:tc>
                <a:tc>
                  <a:txBody>
                    <a:bodyPr/>
                    <a:lstStyle/>
                    <a:p>
                      <a:pPr lvl="0" marL="0" indent="0">
                        <a:buNone/>
                      </a:pPr>
                      <a:r>
                        <a:rPr/>
                        <a:t>SQL</a:t>
                      </a:r>
                      <a:r>
                        <a:rPr/>
                        <a:t> </a:t>
                      </a:r>
                      <a:r>
                        <a:rPr/>
                        <a:t>(Structured</a:t>
                      </a:r>
                      <a:r>
                        <a:rPr/>
                        <a:t> </a:t>
                      </a:r>
                      <a:r>
                        <a:rPr/>
                        <a:t>Query</a:t>
                      </a:r>
                      <a:r>
                        <a:rPr/>
                        <a:t> </a:t>
                      </a:r>
                      <a:r>
                        <a:rPr/>
                        <a:t>Language)</a:t>
                      </a:r>
                    </a:p>
                  </a:txBody>
                </a:tc>
                <a:tc>
                  <a:txBody>
                    <a:bodyPr/>
                    <a:lstStyle/>
                    <a:p>
                      <a:pPr lvl="0" marL="0" indent="0">
                        <a:buNone/>
                      </a:pPr>
                      <a:r>
                        <a:rPr/>
                        <a:t>Diverse,</a:t>
                      </a:r>
                      <a:r>
                        <a:rPr/>
                        <a:t> </a:t>
                      </a:r>
                      <a:r>
                        <a:rPr/>
                        <a:t>includes</a:t>
                      </a:r>
                      <a:r>
                        <a:rPr/>
                        <a:t> </a:t>
                      </a:r>
                      <a:r>
                        <a:rPr/>
                        <a:t>language-specific</a:t>
                      </a:r>
                      <a:r>
                        <a:rPr/>
                        <a:t> </a:t>
                      </a:r>
                      <a:r>
                        <a:rPr/>
                        <a:t>APIs</a:t>
                      </a:r>
                      <a:r>
                        <a:rPr/>
                        <a:t> </a:t>
                      </a:r>
                      <a:r>
                        <a:rPr/>
                        <a:t>and</a:t>
                      </a:r>
                      <a:r>
                        <a:rPr/>
                        <a:t> </a:t>
                      </a:r>
                      <a:r>
                        <a:rPr/>
                        <a:t>query</a:t>
                      </a:r>
                      <a:r>
                        <a:rPr/>
                        <a:t> </a:t>
                      </a:r>
                      <a:r>
                        <a:rPr/>
                        <a:t>formats</a:t>
                      </a:r>
                    </a:p>
                  </a:txBody>
                </a:tc>
              </a:tr>
              <a:tr h="0">
                <a:tc>
                  <a:txBody>
                    <a:bodyPr/>
                    <a:lstStyle/>
                    <a:p>
                      <a:pPr lvl="0" marL="0" indent="0">
                        <a:buNone/>
                      </a:pPr>
                      <a:r>
                        <a:rPr/>
                        <a:t>Transactions</a:t>
                      </a:r>
                      <a:r>
                        <a:rPr/>
                        <a:t> </a:t>
                      </a:r>
                      <a:r>
                        <a:rPr/>
                        <a:t>Support</a:t>
                      </a:r>
                    </a:p>
                  </a:txBody>
                </a:tc>
                <a:tc>
                  <a:txBody>
                    <a:bodyPr/>
                    <a:lstStyle/>
                    <a:p>
                      <a:pPr lvl="0" marL="0" indent="0">
                        <a:buNone/>
                      </a:pPr>
                      <a:r>
                        <a:rPr/>
                        <a:t>Supports</a:t>
                      </a:r>
                      <a:r>
                        <a:rPr/>
                        <a:t> </a:t>
                      </a:r>
                      <a:r>
                        <a:rPr/>
                        <a:t>full</a:t>
                      </a:r>
                      <a:r>
                        <a:rPr/>
                        <a:t> </a:t>
                      </a:r>
                      <a:r>
                        <a:rPr/>
                        <a:t>ACID</a:t>
                      </a:r>
                      <a:r>
                        <a:rPr/>
                        <a:t> </a:t>
                      </a:r>
                      <a:r>
                        <a:rPr/>
                        <a:t>transactions</a:t>
                      </a:r>
                    </a:p>
                  </a:txBody>
                </a:tc>
                <a:tc>
                  <a:txBody>
                    <a:bodyPr/>
                    <a:lstStyle/>
                    <a:p>
                      <a:pPr lvl="0" marL="0" indent="0">
                        <a:buNone/>
                      </a:pPr>
                      <a:r>
                        <a:rPr/>
                        <a:t>Follows</a:t>
                      </a:r>
                      <a:r>
                        <a:rPr/>
                        <a:t> </a:t>
                      </a:r>
                      <a:r>
                        <a:rPr/>
                        <a:t>BASE</a:t>
                      </a:r>
                      <a:r>
                        <a:rPr/>
                        <a:t> </a:t>
                      </a:r>
                      <a:r>
                        <a:rPr/>
                        <a:t>principles</a:t>
                      </a:r>
                      <a:r>
                        <a:rPr/>
                        <a:t> </a:t>
                      </a:r>
                      <a:r>
                        <a:rPr/>
                        <a:t>(Basically</a:t>
                      </a:r>
                      <a:r>
                        <a:rPr/>
                        <a:t> </a:t>
                      </a:r>
                      <a:r>
                        <a:rPr/>
                        <a:t>Available,</a:t>
                      </a:r>
                      <a:r>
                        <a:rPr/>
                        <a:t> </a:t>
                      </a:r>
                      <a:r>
                        <a:rPr/>
                        <a:t>Soft</a:t>
                      </a:r>
                      <a:r>
                        <a:rPr/>
                        <a:t> </a:t>
                      </a:r>
                      <a:r>
                        <a:rPr/>
                        <a:t>state,</a:t>
                      </a:r>
                      <a:r>
                        <a:rPr/>
                        <a:t> </a:t>
                      </a:r>
                      <a:r>
                        <a:rPr/>
                        <a:t>Eventually</a:t>
                      </a:r>
                      <a:r>
                        <a:rPr/>
                        <a:t> </a:t>
                      </a:r>
                      <a:r>
                        <a:rPr/>
                        <a:t>consistent)</a:t>
                      </a:r>
                    </a:p>
                  </a:txBody>
                </a:tc>
              </a:tr>
              <a:tr h="0">
                <a:tc>
                  <a:txBody>
                    <a:bodyPr/>
                    <a:lstStyle/>
                    <a:p>
                      <a:pPr lvl="0" marL="0" indent="0">
                        <a:buNone/>
                      </a:pPr>
                      <a:r>
                        <a:rPr/>
                        <a:t>Performance</a:t>
                      </a:r>
                    </a:p>
                  </a:txBody>
                </a:tc>
                <a:tc>
                  <a:txBody>
                    <a:bodyPr/>
                    <a:lstStyle/>
                    <a:p>
                      <a:pPr lvl="0" marL="0" indent="0">
                        <a:buNone/>
                      </a:pPr>
                      <a:r>
                        <a:rPr/>
                        <a:t>Optimized</a:t>
                      </a:r>
                      <a:r>
                        <a:rPr/>
                        <a:t> </a:t>
                      </a:r>
                      <a:r>
                        <a:rPr/>
                        <a:t>for</a:t>
                      </a:r>
                      <a:r>
                        <a:rPr/>
                        <a:t> </a:t>
                      </a:r>
                      <a:r>
                        <a:rPr/>
                        <a:t>complex</a:t>
                      </a:r>
                      <a:r>
                        <a:rPr/>
                        <a:t> </a:t>
                      </a:r>
                      <a:r>
                        <a:rPr/>
                        <a:t>queries</a:t>
                      </a:r>
                      <a:r>
                        <a:rPr/>
                        <a:t> </a:t>
                      </a:r>
                      <a:r>
                        <a:rPr/>
                        <a:t>and</a:t>
                      </a:r>
                      <a:r>
                        <a:rPr/>
                        <a:t> </a:t>
                      </a:r>
                      <a:r>
                        <a:rPr/>
                        <a:t>relationships</a:t>
                      </a:r>
                    </a:p>
                  </a:txBody>
                </a:tc>
                <a:tc>
                  <a:txBody>
                    <a:bodyPr/>
                    <a:lstStyle/>
                    <a:p>
                      <a:pPr lvl="0" marL="0" indent="0">
                        <a:buNone/>
                      </a:pPr>
                      <a:r>
                        <a:rPr/>
                        <a:t>High</a:t>
                      </a:r>
                      <a:r>
                        <a:rPr/>
                        <a:t> </a:t>
                      </a:r>
                      <a:r>
                        <a:rPr/>
                        <a:t>throughput</a:t>
                      </a:r>
                      <a:r>
                        <a:rPr/>
                        <a:t> </a:t>
                      </a:r>
                      <a:r>
                        <a:rPr/>
                        <a:t>for</a:t>
                      </a:r>
                      <a:r>
                        <a:rPr/>
                        <a:t> </a:t>
                      </a:r>
                      <a:r>
                        <a:rPr/>
                        <a:t>large</a:t>
                      </a:r>
                      <a:r>
                        <a:rPr/>
                        <a:t> </a:t>
                      </a:r>
                      <a:r>
                        <a:rPr/>
                        <a:t>volumes</a:t>
                      </a:r>
                      <a:r>
                        <a:rPr/>
                        <a:t> </a:t>
                      </a:r>
                      <a:r>
                        <a:rPr/>
                        <a:t>of</a:t>
                      </a:r>
                      <a:r>
                        <a:rPr/>
                        <a:t> </a:t>
                      </a:r>
                      <a:r>
                        <a:rPr/>
                        <a:t>structured</a:t>
                      </a:r>
                      <a:r>
                        <a:rPr/>
                        <a:t> </a:t>
                      </a:r>
                      <a:r>
                        <a:rPr/>
                        <a:t>or</a:t>
                      </a:r>
                      <a:r>
                        <a:rPr/>
                        <a:t> </a:t>
                      </a:r>
                      <a:r>
                        <a:rPr/>
                        <a:t>unstructured</a:t>
                      </a:r>
                      <a:r>
                        <a:rPr/>
                        <a:t> </a:t>
                      </a:r>
                      <a:r>
                        <a:rPr/>
                        <a:t>data</a:t>
                      </a:r>
                    </a:p>
                  </a:txBody>
                </a:tc>
              </a:tr>
              <a:tr h="0">
                <a:tc>
                  <a:txBody>
                    <a:bodyPr/>
                    <a:lstStyle/>
                    <a:p>
                      <a:pPr lvl="0" marL="0" indent="0">
                        <a:buNone/>
                      </a:pPr>
                      <a:r>
                        <a:rPr/>
                        <a:t>Schema</a:t>
                      </a:r>
                      <a:r>
                        <a:rPr/>
                        <a:t> </a:t>
                      </a:r>
                      <a:r>
                        <a:rPr/>
                        <a:t>Flexibility</a:t>
                      </a:r>
                    </a:p>
                  </a:txBody>
                </a:tc>
                <a:tc>
                  <a:txBody>
                    <a:bodyPr/>
                    <a:lstStyle/>
                    <a:p>
                      <a:pPr lvl="0" marL="0" indent="0">
                        <a:buNone/>
                      </a:pPr>
                      <a:r>
                        <a:rPr/>
                        <a:t>Schema</a:t>
                      </a:r>
                      <a:r>
                        <a:rPr/>
                        <a:t> </a:t>
                      </a:r>
                      <a:r>
                        <a:rPr/>
                        <a:t>is</a:t>
                      </a:r>
                      <a:r>
                        <a:rPr/>
                        <a:t> </a:t>
                      </a:r>
                      <a:r>
                        <a:rPr/>
                        <a:t>typically</a:t>
                      </a:r>
                      <a:r>
                        <a:rPr/>
                        <a:t> </a:t>
                      </a:r>
                      <a:r>
                        <a:rPr/>
                        <a:t>static</a:t>
                      </a:r>
                      <a:r>
                        <a:rPr/>
                        <a:t> </a:t>
                      </a:r>
                      <a:r>
                        <a:rPr/>
                        <a:t>and</a:t>
                      </a:r>
                      <a:r>
                        <a:rPr/>
                        <a:t> </a:t>
                      </a:r>
                      <a:r>
                        <a:rPr/>
                        <a:t>predefined</a:t>
                      </a:r>
                    </a:p>
                  </a:txBody>
                </a:tc>
                <a:tc>
                  <a:txBody>
                    <a:bodyPr/>
                    <a:lstStyle/>
                    <a:p>
                      <a:pPr lvl="0" marL="0" indent="0">
                        <a:buNone/>
                      </a:pPr>
                      <a:r>
                        <a:rPr/>
                        <a:t>Highly</a:t>
                      </a:r>
                      <a:r>
                        <a:rPr/>
                        <a:t> </a:t>
                      </a:r>
                      <a:r>
                        <a:rPr/>
                        <a:t>flexible,</a:t>
                      </a:r>
                      <a:r>
                        <a:rPr/>
                        <a:t> </a:t>
                      </a:r>
                      <a:r>
                        <a:rPr/>
                        <a:t>allowing</a:t>
                      </a:r>
                      <a:r>
                        <a:rPr/>
                        <a:t> </a:t>
                      </a:r>
                      <a:r>
                        <a:rPr/>
                        <a:t>dynamic</a:t>
                      </a:r>
                      <a:r>
                        <a:rPr/>
                        <a:t> </a:t>
                      </a:r>
                      <a:r>
                        <a:rPr/>
                        <a:t>schema</a:t>
                      </a:r>
                      <a:r>
                        <a:rPr/>
                        <a:t> </a:t>
                      </a:r>
                      <a:r>
                        <a:rPr/>
                        <a:t>evolution</a:t>
                      </a:r>
                    </a:p>
                  </a:txBody>
                </a:tc>
              </a:tr>
              <a:tr h="0">
                <a:tc>
                  <a:txBody>
                    <a:bodyPr/>
                    <a:lstStyle/>
                    <a:p>
                      <a:pPr lvl="0" marL="0" indent="0">
                        <a:buNone/>
                      </a:pPr>
                      <a:r>
                        <a:rPr/>
                        <a:t>Use</a:t>
                      </a:r>
                      <a:r>
                        <a:rPr/>
                        <a:t> </a:t>
                      </a:r>
                      <a:r>
                        <a:rPr/>
                        <a:t>Cases</a:t>
                      </a:r>
                    </a:p>
                  </a:txBody>
                </a:tc>
                <a:tc>
                  <a:txBody>
                    <a:bodyPr/>
                    <a:lstStyle/>
                    <a:p>
                      <a:pPr lvl="0" marL="0" indent="0">
                        <a:buNone/>
                      </a:pPr>
                      <a:r>
                        <a:rPr/>
                        <a:t>Well-suited</a:t>
                      </a:r>
                      <a:r>
                        <a:rPr/>
                        <a:t> </a:t>
                      </a:r>
                      <a:r>
                        <a:rPr/>
                        <a:t>for</a:t>
                      </a:r>
                      <a:r>
                        <a:rPr/>
                        <a:t> </a:t>
                      </a:r>
                      <a:r>
                        <a:rPr/>
                        <a:t>handling</a:t>
                      </a:r>
                      <a:r>
                        <a:rPr/>
                        <a:t> </a:t>
                      </a:r>
                      <a:r>
                        <a:rPr/>
                        <a:t>structured</a:t>
                      </a:r>
                      <a:r>
                        <a:rPr/>
                        <a:t> </a:t>
                      </a:r>
                      <a:r>
                        <a:rPr/>
                        <a:t>data</a:t>
                      </a:r>
                      <a:r>
                        <a:rPr/>
                        <a:t> </a:t>
                      </a:r>
                      <a:r>
                        <a:rPr/>
                        <a:t>with</a:t>
                      </a:r>
                      <a:r>
                        <a:rPr/>
                        <a:t> </a:t>
                      </a:r>
                      <a:r>
                        <a:rPr/>
                        <a:t>complex</a:t>
                      </a:r>
                      <a:r>
                        <a:rPr/>
                        <a:t> </a:t>
                      </a:r>
                      <a:r>
                        <a:rPr/>
                        <a:t>queries</a:t>
                      </a:r>
                    </a:p>
                  </a:txBody>
                </a:tc>
                <a:tc>
                  <a:txBody>
                    <a:bodyPr/>
                    <a:lstStyle/>
                    <a:p>
                      <a:pPr lvl="0" marL="0" indent="0">
                        <a:buNone/>
                      </a:pPr>
                      <a:r>
                        <a:rPr/>
                        <a:t>Ideal</a:t>
                      </a:r>
                      <a:r>
                        <a:rPr/>
                        <a:t> </a:t>
                      </a:r>
                      <a:r>
                        <a:rPr/>
                        <a:t>for</a:t>
                      </a:r>
                      <a:r>
                        <a:rPr/>
                        <a:t> </a:t>
                      </a:r>
                      <a:r>
                        <a:rPr/>
                        <a:t>handling</a:t>
                      </a:r>
                      <a:r>
                        <a:rPr/>
                        <a:t> </a:t>
                      </a:r>
                      <a:r>
                        <a:rPr/>
                        <a:t>big</a:t>
                      </a:r>
                      <a:r>
                        <a:rPr/>
                        <a:t> </a:t>
                      </a:r>
                      <a:r>
                        <a:rPr/>
                        <a:t>data,</a:t>
                      </a:r>
                      <a:r>
                        <a:rPr/>
                        <a:t> </a:t>
                      </a:r>
                      <a:r>
                        <a:rPr/>
                        <a:t>real-time</a:t>
                      </a:r>
                      <a:r>
                        <a:rPr/>
                        <a:t> </a:t>
                      </a:r>
                      <a:r>
                        <a:rPr/>
                        <a:t>applications,</a:t>
                      </a:r>
                      <a:r>
                        <a:rPr/>
                        <a:t> </a:t>
                      </a:r>
                      <a:r>
                        <a:rPr/>
                        <a:t>flexible</a:t>
                      </a:r>
                      <a:r>
                        <a:rPr/>
                        <a:t> </a:t>
                      </a:r>
                      <a:r>
                        <a:rPr/>
                        <a:t>schema</a:t>
                      </a:r>
                      <a:r>
                        <a:rPr/>
                        <a:t> </a:t>
                      </a:r>
                      <a:r>
                        <a:rPr/>
                        <a:t>requirements</a:t>
                      </a:r>
                    </a:p>
                  </a:txBody>
                </a:tc>
              </a:tr>
              <a:tr h="0">
                <a:tc>
                  <a:txBody>
                    <a:bodyPr/>
                    <a:lstStyle/>
                    <a:p>
                      <a:pPr lvl="0" marL="0" indent="0">
                        <a:buNone/>
                      </a:pPr>
                      <a:r>
                        <a:rPr/>
                        <a:t>Examples</a:t>
                      </a:r>
                    </a:p>
                  </a:txBody>
                </a:tc>
                <a:tc>
                  <a:txBody>
                    <a:bodyPr/>
                    <a:lstStyle/>
                    <a:p>
                      <a:pPr lvl="0" marL="0" indent="0">
                        <a:buNone/>
                      </a:pPr>
                      <a:r>
                        <a:rPr/>
                        <a:t>MySQL,</a:t>
                      </a:r>
                      <a:r>
                        <a:rPr/>
                        <a:t> </a:t>
                      </a:r>
                      <a:r>
                        <a:rPr/>
                        <a:t>PostgreSQL,</a:t>
                      </a:r>
                      <a:r>
                        <a:rPr/>
                        <a:t> </a:t>
                      </a:r>
                      <a:r>
                        <a:rPr/>
                        <a:t>Oracle</a:t>
                      </a:r>
                    </a:p>
                  </a:txBody>
                </a:tc>
                <a:tc>
                  <a:txBody>
                    <a:bodyPr/>
                    <a:lstStyle/>
                    <a:p>
                      <a:pPr lvl="0" marL="0" indent="0">
                        <a:buNone/>
                      </a:pPr>
                      <a:r>
                        <a:rPr/>
                        <a:t>MongoDB,</a:t>
                      </a:r>
                      <a:r>
                        <a:rPr/>
                        <a:t> </a:t>
                      </a:r>
                      <a:r>
                        <a:rPr/>
                        <a:t>Cassandra,</a:t>
                      </a:r>
                      <a:r>
                        <a:rPr/>
                        <a:t> </a:t>
                      </a:r>
                      <a:r>
                        <a:rPr/>
                        <a:t>Couchbase</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Advantages</a:t>
            </a:r>
            <a:r>
              <a:rPr/>
              <a:t> </a:t>
            </a:r>
            <a:r>
              <a:rPr/>
              <a:t>and</a:t>
            </a:r>
            <a:r>
              <a:rPr/>
              <a:t> </a:t>
            </a:r>
            <a:r>
              <a:rPr/>
              <a:t>Disadvantages</a:t>
            </a:r>
          </a:p>
        </p:txBody>
      </p:sp>
      <p:graphicFrame>
        <p:nvGraphicFramePr>
          <p:cNvPr id="6" name="Content Placeholder 5"/>
          <p:cNvGraphicFramePr>
            <a:graphicFrameLocks noGrp="1"/>
          </p:cNvGraphicFramePr>
          <p:nvPr>
            <p:ph idx="1"/>
          </p:nvPr>
        </p:nvGraphicFramePr>
        <p:xfrm>
          <a:off x="457200" y="1600200"/>
          <a:ext cx="8229600" cy="4521200"/>
        </p:xfrm>
        <a:graphic>
          <a:graphicData uri="http://schemas.openxmlformats.org/drawingml/2006/table">
            <a:tbl>
              <a:tblPr firstRow="1" bandRow="1">
                <a:tableStyleId>{5C22544A-7EE6-4342-B048-85BDC9FD1C3A}</a:tableStyleId>
              </a:tblPr>
              <a:tblGrid>
                <a:gridCol w="1638300"/>
                <a:gridCol w="1638300"/>
                <a:gridCol w="1638300"/>
                <a:gridCol w="1638300"/>
                <a:gridCol w="1638300"/>
              </a:tblGrid>
              <a:tr h="0">
                <a:tc>
                  <a:txBody>
                    <a:bodyPr/>
                    <a:lstStyle/>
                    <a:p>
                      <a:pPr lvl="0" marL="0" indent="0">
                        <a:buNone/>
                      </a:pPr>
                      <a:r>
                        <a:rPr/>
                        <a:t>Aspect</a:t>
                      </a:r>
                    </a:p>
                  </a:txBody>
                  <a:tcPr/>
                </a:tc>
                <a:tc>
                  <a:txBody>
                    <a:bodyPr/>
                    <a:lstStyle/>
                    <a:p>
                      <a:pPr lvl="0" marL="0" indent="0">
                        <a:buNone/>
                      </a:pPr>
                      <a:r>
                        <a:rPr/>
                        <a:t>Relational</a:t>
                      </a:r>
                      <a:r>
                        <a:rPr/>
                        <a:t> </a:t>
                      </a:r>
                      <a:r>
                        <a:rPr/>
                        <a:t>Database</a:t>
                      </a:r>
                      <a:r>
                        <a:rPr/>
                        <a:t> </a:t>
                      </a:r>
                      <a:r>
                        <a:rPr/>
                        <a:t>Advantages</a:t>
                      </a:r>
                    </a:p>
                  </a:txBody>
                  <a:tcPr/>
                </a:tc>
                <a:tc>
                  <a:txBody>
                    <a:bodyPr/>
                    <a:lstStyle/>
                    <a:p>
                      <a:pPr lvl="0" marL="0" indent="0">
                        <a:buNone/>
                      </a:pPr>
                      <a:r>
                        <a:rPr/>
                        <a:t>Relational</a:t>
                      </a:r>
                      <a:r>
                        <a:rPr/>
                        <a:t> </a:t>
                      </a:r>
                      <a:r>
                        <a:rPr/>
                        <a:t>Database</a:t>
                      </a:r>
                      <a:r>
                        <a:rPr/>
                        <a:t> </a:t>
                      </a:r>
                      <a:r>
                        <a:rPr/>
                        <a:t>Disadvantages</a:t>
                      </a:r>
                    </a:p>
                  </a:txBody>
                  <a:tcPr/>
                </a:tc>
                <a:tc>
                  <a:txBody>
                    <a:bodyPr/>
                    <a:lstStyle/>
                    <a:p>
                      <a:pPr lvl="0" marL="0" indent="0">
                        <a:buNone/>
                      </a:pPr>
                      <a:r>
                        <a:rPr/>
                        <a:t>NoSQL</a:t>
                      </a:r>
                      <a:r>
                        <a:rPr/>
                        <a:t> </a:t>
                      </a:r>
                      <a:r>
                        <a:rPr/>
                        <a:t>Database</a:t>
                      </a:r>
                      <a:r>
                        <a:rPr/>
                        <a:t> </a:t>
                      </a:r>
                      <a:r>
                        <a:rPr/>
                        <a:t>Advantages</a:t>
                      </a:r>
                    </a:p>
                  </a:txBody>
                  <a:tcPr/>
                </a:tc>
                <a:tc>
                  <a:txBody>
                    <a:bodyPr/>
                    <a:lstStyle/>
                    <a:p>
                      <a:pPr lvl="0" marL="0" indent="0">
                        <a:buNone/>
                      </a:pPr>
                      <a:r>
                        <a:rPr/>
                        <a:t>NoSQL</a:t>
                      </a:r>
                      <a:r>
                        <a:rPr/>
                        <a:t> </a:t>
                      </a:r>
                      <a:r>
                        <a:rPr/>
                        <a:t>Database</a:t>
                      </a:r>
                      <a:r>
                        <a:rPr/>
                        <a:t> </a:t>
                      </a:r>
                      <a:r>
                        <a:rPr/>
                        <a:t>Disadvantages</a:t>
                      </a:r>
                    </a:p>
                  </a:txBody>
                  <a:tcPr/>
                </a:tc>
              </a:tr>
              <a:tr h="0">
                <a:tc>
                  <a:txBody>
                    <a:bodyPr/>
                    <a:lstStyle/>
                    <a:p>
                      <a:pPr lvl="0" marL="0" indent="0">
                        <a:buNone/>
                      </a:pPr>
                      <a:r>
                        <a:rPr/>
                        <a:t>Scalability</a:t>
                      </a:r>
                    </a:p>
                  </a:txBody>
                </a:tc>
                <a:tc>
                  <a:txBody>
                    <a:bodyPr/>
                    <a:lstStyle/>
                    <a:p>
                      <a:pPr lvl="0" marL="0" indent="0">
                        <a:buNone/>
                      </a:pPr>
                      <a:r>
                        <a:rPr/>
                        <a:t>Efficient</a:t>
                      </a:r>
                      <a:r>
                        <a:rPr/>
                        <a:t> </a:t>
                      </a:r>
                      <a:r>
                        <a:rPr/>
                        <a:t>with</a:t>
                      </a:r>
                      <a:r>
                        <a:rPr/>
                        <a:t> </a:t>
                      </a:r>
                      <a:r>
                        <a:rPr/>
                        <a:t>structured</a:t>
                      </a:r>
                      <a:r>
                        <a:rPr/>
                        <a:t> </a:t>
                      </a:r>
                      <a:r>
                        <a:rPr/>
                        <a:t>data</a:t>
                      </a:r>
                      <a:r>
                        <a:rPr/>
                        <a:t> </a:t>
                      </a:r>
                      <a:r>
                        <a:rPr/>
                        <a:t>when</a:t>
                      </a:r>
                      <a:r>
                        <a:rPr/>
                        <a:t> </a:t>
                      </a:r>
                      <a:r>
                        <a:rPr/>
                        <a:t>scaled</a:t>
                      </a:r>
                      <a:r>
                        <a:rPr/>
                        <a:t> </a:t>
                      </a:r>
                      <a:r>
                        <a:rPr/>
                        <a:t>vertically</a:t>
                      </a:r>
                    </a:p>
                  </a:txBody>
                </a:tc>
                <a:tc>
                  <a:txBody>
                    <a:bodyPr/>
                    <a:lstStyle/>
                    <a:p>
                      <a:pPr lvl="0" marL="0" indent="0">
                        <a:buNone/>
                      </a:pPr>
                      <a:r>
                        <a:rPr/>
                        <a:t>May</a:t>
                      </a:r>
                      <a:r>
                        <a:rPr/>
                        <a:t> </a:t>
                      </a:r>
                      <a:r>
                        <a:rPr/>
                        <a:t>need</a:t>
                      </a:r>
                      <a:r>
                        <a:rPr/>
                        <a:t> </a:t>
                      </a:r>
                      <a:r>
                        <a:rPr/>
                        <a:t>complex</a:t>
                      </a:r>
                      <a:r>
                        <a:rPr/>
                        <a:t> </a:t>
                      </a:r>
                      <a:r>
                        <a:rPr/>
                        <a:t>architectures</a:t>
                      </a:r>
                      <a:r>
                        <a:rPr/>
                        <a:t> </a:t>
                      </a:r>
                      <a:r>
                        <a:rPr/>
                        <a:t>to</a:t>
                      </a:r>
                      <a:r>
                        <a:rPr/>
                        <a:t> </a:t>
                      </a:r>
                      <a:r>
                        <a:rPr/>
                        <a:t>scale</a:t>
                      </a:r>
                      <a:r>
                        <a:rPr/>
                        <a:t> </a:t>
                      </a:r>
                      <a:r>
                        <a:rPr/>
                        <a:t>horizontally</a:t>
                      </a:r>
                    </a:p>
                  </a:txBody>
                </a:tc>
                <a:tc>
                  <a:txBody>
                    <a:bodyPr/>
                    <a:lstStyle/>
                    <a:p>
                      <a:pPr lvl="0" marL="0" indent="0">
                        <a:buNone/>
                      </a:pPr>
                      <a:r>
                        <a:rPr/>
                        <a:t>Easily</a:t>
                      </a:r>
                      <a:r>
                        <a:rPr/>
                        <a:t> </a:t>
                      </a:r>
                      <a:r>
                        <a:rPr/>
                        <a:t>scales</a:t>
                      </a:r>
                      <a:r>
                        <a:rPr/>
                        <a:t> </a:t>
                      </a:r>
                      <a:r>
                        <a:rPr/>
                        <a:t>out</a:t>
                      </a:r>
                      <a:r>
                        <a:rPr/>
                        <a:t> </a:t>
                      </a:r>
                      <a:r>
                        <a:rPr/>
                        <a:t>by</a:t>
                      </a:r>
                      <a:r>
                        <a:rPr/>
                        <a:t> </a:t>
                      </a:r>
                      <a:r>
                        <a:rPr/>
                        <a:t>adding</a:t>
                      </a:r>
                      <a:r>
                        <a:rPr/>
                        <a:t> </a:t>
                      </a:r>
                      <a:r>
                        <a:rPr/>
                        <a:t>more</a:t>
                      </a:r>
                      <a:r>
                        <a:rPr/>
                        <a:t> </a:t>
                      </a:r>
                      <a:r>
                        <a:rPr/>
                        <a:t>servers</a:t>
                      </a:r>
                    </a:p>
                  </a:txBody>
                </a:tc>
                <a:tc>
                  <a:txBody>
                    <a:bodyPr/>
                    <a:lstStyle/>
                    <a:p>
                      <a:pPr lvl="0" marL="0" indent="0">
                        <a:buNone/>
                      </a:pPr>
                      <a:r>
                        <a:rPr/>
                        <a:t>Consistency</a:t>
                      </a:r>
                      <a:r>
                        <a:rPr/>
                        <a:t> </a:t>
                      </a:r>
                      <a:r>
                        <a:rPr/>
                        <a:t>issues</a:t>
                      </a:r>
                      <a:r>
                        <a:rPr/>
                        <a:t> </a:t>
                      </a:r>
                      <a:r>
                        <a:rPr/>
                        <a:t>can</a:t>
                      </a:r>
                      <a:r>
                        <a:rPr/>
                        <a:t> </a:t>
                      </a:r>
                      <a:r>
                        <a:rPr/>
                        <a:t>arise</a:t>
                      </a:r>
                      <a:r>
                        <a:rPr/>
                        <a:t> </a:t>
                      </a:r>
                      <a:r>
                        <a:rPr/>
                        <a:t>in</a:t>
                      </a:r>
                      <a:r>
                        <a:rPr/>
                        <a:t> </a:t>
                      </a:r>
                      <a:r>
                        <a:rPr/>
                        <a:t>distributed</a:t>
                      </a:r>
                      <a:r>
                        <a:rPr/>
                        <a:t> </a:t>
                      </a:r>
                      <a:r>
                        <a:rPr/>
                        <a:t>systems,</a:t>
                      </a:r>
                      <a:r>
                        <a:rPr/>
                        <a:t> </a:t>
                      </a:r>
                      <a:r>
                        <a:rPr/>
                        <a:t>affecting</a:t>
                      </a:r>
                      <a:r>
                        <a:rPr/>
                        <a:t> </a:t>
                      </a:r>
                      <a:r>
                        <a:rPr/>
                        <a:t>reliability</a:t>
                      </a:r>
                    </a:p>
                  </a:txBody>
                </a:tc>
              </a:tr>
              <a:tr h="0">
                <a:tc>
                  <a:txBody>
                    <a:bodyPr/>
                    <a:lstStyle/>
                    <a:p>
                      <a:pPr lvl="0" marL="0" indent="0">
                        <a:buNone/>
                      </a:pPr>
                      <a:r>
                        <a:rPr/>
                        <a:t>Schema</a:t>
                      </a:r>
                      <a:r>
                        <a:rPr/>
                        <a:t> </a:t>
                      </a:r>
                      <a:r>
                        <a:rPr/>
                        <a:t>Management</a:t>
                      </a:r>
                    </a:p>
                  </a:txBody>
                </a:tc>
                <a:tc>
                  <a:txBody>
                    <a:bodyPr/>
                    <a:lstStyle/>
                    <a:p>
                      <a:pPr lvl="0" marL="0" indent="0">
                        <a:buNone/>
                      </a:pPr>
                      <a:r>
                        <a:rPr/>
                        <a:t>Ensures</a:t>
                      </a:r>
                      <a:r>
                        <a:rPr/>
                        <a:t> </a:t>
                      </a:r>
                      <a:r>
                        <a:rPr/>
                        <a:t>strict</a:t>
                      </a:r>
                      <a:r>
                        <a:rPr/>
                        <a:t> </a:t>
                      </a:r>
                      <a:r>
                        <a:rPr/>
                        <a:t>data</a:t>
                      </a:r>
                      <a:r>
                        <a:rPr/>
                        <a:t> </a:t>
                      </a:r>
                      <a:r>
                        <a:rPr/>
                        <a:t>integrity</a:t>
                      </a:r>
                      <a:r>
                        <a:rPr/>
                        <a:t> </a:t>
                      </a:r>
                      <a:r>
                        <a:rPr/>
                        <a:t>through</a:t>
                      </a:r>
                      <a:r>
                        <a:rPr/>
                        <a:t> </a:t>
                      </a:r>
                      <a:r>
                        <a:rPr/>
                        <a:t>structured</a:t>
                      </a:r>
                      <a:r>
                        <a:rPr/>
                        <a:t> </a:t>
                      </a:r>
                      <a:r>
                        <a:rPr/>
                        <a:t>schemas</a:t>
                      </a:r>
                    </a:p>
                  </a:txBody>
                </a:tc>
                <a:tc>
                  <a:txBody>
                    <a:bodyPr/>
                    <a:lstStyle/>
                    <a:p>
                      <a:pPr lvl="0" marL="0" indent="0">
                        <a:buNone/>
                      </a:pPr>
                      <a:r>
                        <a:rPr/>
                        <a:t>Less</a:t>
                      </a:r>
                      <a:r>
                        <a:rPr/>
                        <a:t> </a:t>
                      </a:r>
                      <a:r>
                        <a:rPr/>
                        <a:t>flexible,</a:t>
                      </a:r>
                      <a:r>
                        <a:rPr/>
                        <a:t> </a:t>
                      </a:r>
                      <a:r>
                        <a:rPr/>
                        <a:t>changes</a:t>
                      </a:r>
                      <a:r>
                        <a:rPr/>
                        <a:t> </a:t>
                      </a:r>
                      <a:r>
                        <a:rPr/>
                        <a:t>can</a:t>
                      </a:r>
                      <a:r>
                        <a:rPr/>
                        <a:t> </a:t>
                      </a:r>
                      <a:r>
                        <a:rPr/>
                        <a:t>be</a:t>
                      </a:r>
                      <a:r>
                        <a:rPr/>
                        <a:t> </a:t>
                      </a:r>
                      <a:r>
                        <a:rPr/>
                        <a:t>time-consuming</a:t>
                      </a:r>
                    </a:p>
                  </a:txBody>
                </a:tc>
                <a:tc>
                  <a:txBody>
                    <a:bodyPr/>
                    <a:lstStyle/>
                    <a:p>
                      <a:pPr lvl="0" marL="0" indent="0">
                        <a:buNone/>
                      </a:pPr>
                      <a:r>
                        <a:rPr/>
                        <a:t>Flexible</a:t>
                      </a:r>
                      <a:r>
                        <a:rPr/>
                        <a:t> </a:t>
                      </a:r>
                      <a:r>
                        <a:rPr/>
                        <a:t>schemas</a:t>
                      </a:r>
                      <a:r>
                        <a:rPr/>
                        <a:t> </a:t>
                      </a:r>
                      <a:r>
                        <a:rPr/>
                        <a:t>are</a:t>
                      </a:r>
                      <a:r>
                        <a:rPr/>
                        <a:t> </a:t>
                      </a:r>
                      <a:r>
                        <a:rPr/>
                        <a:t>adaptable</a:t>
                      </a:r>
                      <a:r>
                        <a:rPr/>
                        <a:t> </a:t>
                      </a:r>
                      <a:r>
                        <a:rPr/>
                        <a:t>for</a:t>
                      </a:r>
                      <a:r>
                        <a:rPr/>
                        <a:t> </a:t>
                      </a:r>
                      <a:r>
                        <a:rPr/>
                        <a:t>evolving</a:t>
                      </a:r>
                      <a:r>
                        <a:rPr/>
                        <a:t> </a:t>
                      </a:r>
                      <a:r>
                        <a:rPr/>
                        <a:t>data</a:t>
                      </a:r>
                      <a:r>
                        <a:rPr/>
                        <a:t> </a:t>
                      </a:r>
                      <a:r>
                        <a:rPr/>
                        <a:t>models</a:t>
                      </a:r>
                    </a:p>
                  </a:txBody>
                </a:tc>
                <a:tc>
                  <a:txBody>
                    <a:bodyPr/>
                    <a:lstStyle/>
                    <a:p>
                      <a:pPr lvl="0" marL="0" indent="0">
                        <a:buNone/>
                      </a:pPr>
                      <a:r>
                        <a:rPr/>
                        <a:t>Schema-less</a:t>
                      </a:r>
                      <a:r>
                        <a:rPr/>
                        <a:t> </a:t>
                      </a:r>
                      <a:r>
                        <a:rPr/>
                        <a:t>nature</a:t>
                      </a:r>
                      <a:r>
                        <a:rPr/>
                        <a:t> </a:t>
                      </a:r>
                      <a:r>
                        <a:rPr/>
                        <a:t>can</a:t>
                      </a:r>
                      <a:r>
                        <a:rPr/>
                        <a:t> </a:t>
                      </a:r>
                      <a:r>
                        <a:rPr/>
                        <a:t>lead</a:t>
                      </a:r>
                      <a:r>
                        <a:rPr/>
                        <a:t> </a:t>
                      </a:r>
                      <a:r>
                        <a:rPr/>
                        <a:t>to</a:t>
                      </a:r>
                      <a:r>
                        <a:rPr/>
                        <a:t> </a:t>
                      </a:r>
                      <a:r>
                        <a:rPr/>
                        <a:t>data</a:t>
                      </a:r>
                      <a:r>
                        <a:rPr/>
                        <a:t> </a:t>
                      </a:r>
                      <a:r>
                        <a:rPr/>
                        <a:t>inconsistency</a:t>
                      </a:r>
                    </a:p>
                  </a:txBody>
                </a:tc>
              </a:tr>
              <a:tr h="0">
                <a:tc>
                  <a:txBody>
                    <a:bodyPr/>
                    <a:lstStyle/>
                    <a:p>
                      <a:pPr lvl="0" marL="0" indent="0">
                        <a:buNone/>
                      </a:pPr>
                      <a:r>
                        <a:rPr/>
                        <a:t>Transaction</a:t>
                      </a:r>
                      <a:r>
                        <a:rPr/>
                        <a:t> </a:t>
                      </a:r>
                      <a:r>
                        <a:rPr/>
                        <a:t>Handling</a:t>
                      </a:r>
                    </a:p>
                  </a:txBody>
                </a:tc>
                <a:tc>
                  <a:txBody>
                    <a:bodyPr/>
                    <a:lstStyle/>
                    <a:p>
                      <a:pPr lvl="0" marL="0" indent="0">
                        <a:buNone/>
                      </a:pPr>
                      <a:r>
                        <a:rPr/>
                        <a:t>Provides</a:t>
                      </a:r>
                      <a:r>
                        <a:rPr/>
                        <a:t> </a:t>
                      </a:r>
                      <a:r>
                        <a:rPr/>
                        <a:t>reliable</a:t>
                      </a:r>
                      <a:r>
                        <a:rPr/>
                        <a:t> </a:t>
                      </a:r>
                      <a:r>
                        <a:rPr/>
                        <a:t>ACID</a:t>
                      </a:r>
                      <a:r>
                        <a:rPr/>
                        <a:t> </a:t>
                      </a:r>
                      <a:r>
                        <a:rPr/>
                        <a:t>transactions</a:t>
                      </a:r>
                    </a:p>
                  </a:txBody>
                </a:tc>
                <a:tc>
                  <a:txBody>
                    <a:bodyPr/>
                    <a:lstStyle/>
                    <a:p>
                      <a:pPr lvl="0" marL="0" indent="0">
                        <a:buNone/>
                      </a:pPr>
                      <a:r>
                        <a:rPr/>
                        <a:t>Complex</a:t>
                      </a:r>
                      <a:r>
                        <a:rPr/>
                        <a:t> </a:t>
                      </a:r>
                      <a:r>
                        <a:rPr/>
                        <a:t>transactions</a:t>
                      </a:r>
                      <a:r>
                        <a:rPr/>
                        <a:t> </a:t>
                      </a:r>
                      <a:r>
                        <a:rPr/>
                        <a:t>may</a:t>
                      </a:r>
                      <a:r>
                        <a:rPr/>
                        <a:t> </a:t>
                      </a:r>
                      <a:r>
                        <a:rPr/>
                        <a:t>incur</a:t>
                      </a:r>
                      <a:r>
                        <a:rPr/>
                        <a:t> </a:t>
                      </a:r>
                      <a:r>
                        <a:rPr/>
                        <a:t>performance</a:t>
                      </a:r>
                      <a:r>
                        <a:rPr/>
                        <a:t> </a:t>
                      </a:r>
                      <a:r>
                        <a:rPr/>
                        <a:t>costs</a:t>
                      </a:r>
                    </a:p>
                  </a:txBody>
                </a:tc>
                <a:tc>
                  <a:txBody>
                    <a:bodyPr/>
                    <a:lstStyle/>
                    <a:p>
                      <a:pPr lvl="0" marL="0" indent="0">
                        <a:buNone/>
                      </a:pPr>
                      <a:r>
                        <a:rPr/>
                        <a:t>BASE</a:t>
                      </a:r>
                      <a:r>
                        <a:rPr/>
                        <a:t> </a:t>
                      </a:r>
                      <a:r>
                        <a:rPr/>
                        <a:t>transactions</a:t>
                      </a:r>
                      <a:r>
                        <a:rPr/>
                        <a:t> </a:t>
                      </a:r>
                      <a:r>
                        <a:rPr/>
                        <a:t>fit</a:t>
                      </a:r>
                      <a:r>
                        <a:rPr/>
                        <a:t> </a:t>
                      </a:r>
                      <a:r>
                        <a:rPr/>
                        <a:t>large-scale</a:t>
                      </a:r>
                      <a:r>
                        <a:rPr/>
                        <a:t> </a:t>
                      </a:r>
                      <a:r>
                        <a:rPr/>
                        <a:t>distributed</a:t>
                      </a:r>
                      <a:r>
                        <a:rPr/>
                        <a:t> </a:t>
                      </a:r>
                      <a:r>
                        <a:rPr/>
                        <a:t>environments</a:t>
                      </a:r>
                    </a:p>
                  </a:txBody>
                </a:tc>
                <a:tc>
                  <a:txBody>
                    <a:bodyPr/>
                    <a:lstStyle/>
                    <a:p>
                      <a:pPr lvl="0" marL="0" indent="0">
                        <a:buNone/>
                      </a:pPr>
                      <a:r>
                        <a:rPr/>
                        <a:t>Limited</a:t>
                      </a:r>
                      <a:r>
                        <a:rPr/>
                        <a:t> </a:t>
                      </a:r>
                      <a:r>
                        <a:rPr/>
                        <a:t>support</a:t>
                      </a:r>
                      <a:r>
                        <a:rPr/>
                        <a:t> </a:t>
                      </a:r>
                      <a:r>
                        <a:rPr/>
                        <a:t>for</a:t>
                      </a:r>
                      <a:r>
                        <a:rPr/>
                        <a:t> </a:t>
                      </a:r>
                      <a:r>
                        <a:rPr/>
                        <a:t>traditional</a:t>
                      </a:r>
                      <a:r>
                        <a:rPr/>
                        <a:t> </a:t>
                      </a:r>
                      <a:r>
                        <a:rPr/>
                        <a:t>ACID</a:t>
                      </a:r>
                      <a:r>
                        <a:rPr/>
                        <a:t> </a:t>
                      </a:r>
                      <a:r>
                        <a:rPr/>
                        <a:t>transactions</a:t>
                      </a:r>
                    </a:p>
                  </a:txBody>
                </a:tc>
              </a:tr>
              <a:tr h="0">
                <a:tc>
                  <a:txBody>
                    <a:bodyPr/>
                    <a:lstStyle/>
                    <a:p>
                      <a:pPr lvl="0" marL="0" indent="0">
                        <a:buNone/>
                      </a:pPr>
                      <a:r>
                        <a:rPr/>
                        <a:t>Performance</a:t>
                      </a:r>
                    </a:p>
                  </a:txBody>
                </a:tc>
                <a:tc>
                  <a:txBody>
                    <a:bodyPr/>
                    <a:lstStyle/>
                    <a:p>
                      <a:pPr lvl="0" marL="0" indent="0">
                        <a:buNone/>
                      </a:pPr>
                      <a:r>
                        <a:rPr/>
                        <a:t>Excels</a:t>
                      </a:r>
                      <a:r>
                        <a:rPr/>
                        <a:t> </a:t>
                      </a:r>
                      <a:r>
                        <a:rPr/>
                        <a:t>in</a:t>
                      </a:r>
                      <a:r>
                        <a:rPr/>
                        <a:t> </a:t>
                      </a:r>
                      <a:r>
                        <a:rPr/>
                        <a:t>environments</a:t>
                      </a:r>
                      <a:r>
                        <a:rPr/>
                        <a:t> </a:t>
                      </a:r>
                      <a:r>
                        <a:rPr/>
                        <a:t>with</a:t>
                      </a:r>
                      <a:r>
                        <a:rPr/>
                        <a:t> </a:t>
                      </a:r>
                      <a:r>
                        <a:rPr/>
                        <a:t>clear,</a:t>
                      </a:r>
                      <a:r>
                        <a:rPr/>
                        <a:t> </a:t>
                      </a:r>
                      <a:r>
                        <a:rPr/>
                        <a:t>structured</a:t>
                      </a:r>
                      <a:r>
                        <a:rPr/>
                        <a:t> </a:t>
                      </a:r>
                      <a:r>
                        <a:rPr/>
                        <a:t>requirements</a:t>
                      </a:r>
                    </a:p>
                  </a:txBody>
                </a:tc>
                <a:tc>
                  <a:txBody>
                    <a:bodyPr/>
                    <a:lstStyle/>
                    <a:p>
                      <a:pPr lvl="0" marL="0" indent="0">
                        <a:buNone/>
                      </a:pPr>
                      <a:r>
                        <a:rPr/>
                        <a:t>Performance</a:t>
                      </a:r>
                      <a:r>
                        <a:rPr/>
                        <a:t> </a:t>
                      </a:r>
                      <a:r>
                        <a:rPr/>
                        <a:t>can</a:t>
                      </a:r>
                      <a:r>
                        <a:rPr/>
                        <a:t> </a:t>
                      </a:r>
                      <a:r>
                        <a:rPr/>
                        <a:t>degrade</a:t>
                      </a:r>
                      <a:r>
                        <a:rPr/>
                        <a:t> </a:t>
                      </a:r>
                      <a:r>
                        <a:rPr/>
                        <a:t>in</a:t>
                      </a:r>
                      <a:r>
                        <a:rPr/>
                        <a:t> </a:t>
                      </a:r>
                      <a:r>
                        <a:rPr/>
                        <a:t>massive</a:t>
                      </a:r>
                      <a:r>
                        <a:rPr/>
                        <a:t> </a:t>
                      </a:r>
                      <a:r>
                        <a:rPr/>
                        <a:t>non-relational</a:t>
                      </a:r>
                      <a:r>
                        <a:rPr/>
                        <a:t> </a:t>
                      </a:r>
                      <a:r>
                        <a:rPr/>
                        <a:t>datasets</a:t>
                      </a:r>
                    </a:p>
                  </a:txBody>
                </a:tc>
                <a:tc>
                  <a:txBody>
                    <a:bodyPr/>
                    <a:lstStyle/>
                    <a:p>
                      <a:pPr lvl="0" marL="0" indent="0">
                        <a:buNone/>
                      </a:pPr>
                      <a:r>
                        <a:rPr/>
                        <a:t>Handles</a:t>
                      </a:r>
                      <a:r>
                        <a:rPr/>
                        <a:t> </a:t>
                      </a:r>
                      <a:r>
                        <a:rPr/>
                        <a:t>diverse</a:t>
                      </a:r>
                      <a:r>
                        <a:rPr/>
                        <a:t> </a:t>
                      </a:r>
                      <a:r>
                        <a:rPr/>
                        <a:t>workloads</a:t>
                      </a:r>
                      <a:r>
                        <a:rPr/>
                        <a:t> </a:t>
                      </a:r>
                      <a:r>
                        <a:rPr/>
                        <a:t>and</a:t>
                      </a:r>
                      <a:r>
                        <a:rPr/>
                        <a:t> </a:t>
                      </a:r>
                      <a:r>
                        <a:rPr/>
                        <a:t>varying</a:t>
                      </a:r>
                      <a:r>
                        <a:rPr/>
                        <a:t> </a:t>
                      </a:r>
                      <a:r>
                        <a:rPr/>
                        <a:t>data</a:t>
                      </a:r>
                      <a:r>
                        <a:rPr/>
                        <a:t> </a:t>
                      </a:r>
                      <a:r>
                        <a:rPr/>
                        <a:t>quickly</a:t>
                      </a:r>
                    </a:p>
                  </a:txBody>
                </a:tc>
                <a:tc>
                  <a:txBody>
                    <a:bodyPr/>
                    <a:lstStyle/>
                    <a:p>
                      <a:pPr lvl="0" marL="0" indent="0">
                        <a:buNone/>
                      </a:pPr>
                      <a:r>
                        <a:rPr/>
                        <a:t>Query</a:t>
                      </a:r>
                      <a:r>
                        <a:rPr/>
                        <a:t> </a:t>
                      </a:r>
                      <a:r>
                        <a:rPr/>
                        <a:t>capabilities</a:t>
                      </a:r>
                      <a:r>
                        <a:rPr/>
                        <a:t> </a:t>
                      </a:r>
                      <a:r>
                        <a:rPr/>
                        <a:t>can</a:t>
                      </a:r>
                      <a:r>
                        <a:rPr/>
                        <a:t> </a:t>
                      </a:r>
                      <a:r>
                        <a:rPr/>
                        <a:t>be</a:t>
                      </a:r>
                      <a:r>
                        <a:rPr/>
                        <a:t> </a:t>
                      </a:r>
                      <a:r>
                        <a:rPr/>
                        <a:t>less</a:t>
                      </a:r>
                      <a:r>
                        <a:rPr/>
                        <a:t> </a:t>
                      </a:r>
                      <a:r>
                        <a:rPr/>
                        <a:t>robust</a:t>
                      </a:r>
                      <a:r>
                        <a:rPr/>
                        <a:t> </a:t>
                      </a:r>
                      <a:r>
                        <a:rPr/>
                        <a:t>compared</a:t>
                      </a:r>
                      <a:r>
                        <a:rPr/>
                        <a:t> </a:t>
                      </a:r>
                      <a:r>
                        <a:rPr/>
                        <a:t>to</a:t>
                      </a:r>
                      <a:r>
                        <a:rPr/>
                        <a:t> </a:t>
                      </a:r>
                      <a:r>
                        <a:rPr/>
                        <a:t>SQL</a:t>
                      </a:r>
                    </a:p>
                  </a:txBody>
                </a:tc>
              </a:tr>
              <a:tr h="0">
                <a:tc>
                  <a:txBody>
                    <a:bodyPr/>
                    <a:lstStyle/>
                    <a:p>
                      <a:pPr lvl="0" marL="0" indent="0">
                        <a:buNone/>
                      </a:pPr>
                      <a:r>
                        <a:rPr/>
                        <a:t>Data</a:t>
                      </a:r>
                      <a:r>
                        <a:rPr/>
                        <a:t> </a:t>
                      </a:r>
                      <a:r>
                        <a:rPr/>
                        <a:t>Complexity</a:t>
                      </a:r>
                    </a:p>
                  </a:txBody>
                </a:tc>
                <a:tc>
                  <a:txBody>
                    <a:bodyPr/>
                    <a:lstStyle/>
                    <a:p>
                      <a:pPr lvl="0" marL="0" indent="0">
                        <a:buNone/>
                      </a:pPr>
                      <a:r>
                        <a:rPr/>
                        <a:t>Handles</a:t>
                      </a:r>
                      <a:r>
                        <a:rPr/>
                        <a:t> </a:t>
                      </a:r>
                      <a:r>
                        <a:rPr/>
                        <a:t>complex</a:t>
                      </a:r>
                      <a:r>
                        <a:rPr/>
                        <a:t> </a:t>
                      </a:r>
                      <a:r>
                        <a:rPr/>
                        <a:t>queries</a:t>
                      </a:r>
                      <a:r>
                        <a:rPr/>
                        <a:t> </a:t>
                      </a:r>
                      <a:r>
                        <a:rPr/>
                        <a:t>efficiently</a:t>
                      </a:r>
                      <a:r>
                        <a:rPr/>
                        <a:t> </a:t>
                      </a:r>
                      <a:r>
                        <a:rPr/>
                        <a:t>with</a:t>
                      </a:r>
                      <a:r>
                        <a:rPr/>
                        <a:t> </a:t>
                      </a:r>
                      <a:r>
                        <a:rPr/>
                        <a:t>joins</a:t>
                      </a:r>
                      <a:r>
                        <a:rPr/>
                        <a:t> </a:t>
                      </a:r>
                      <a:r>
                        <a:rPr/>
                        <a:t>and</a:t>
                      </a:r>
                      <a:r>
                        <a:rPr/>
                        <a:t> </a:t>
                      </a:r>
                      <a:r>
                        <a:rPr/>
                        <a:t>relationships</a:t>
                      </a:r>
                    </a:p>
                  </a:txBody>
                </a:tc>
                <a:tc>
                  <a:txBody>
                    <a:bodyPr/>
                    <a:lstStyle/>
                    <a:p>
                      <a:pPr lvl="0" marL="0" indent="0">
                        <a:buNone/>
                      </a:pPr>
                      <a:r>
                        <a:rPr/>
                        <a:t>Can</a:t>
                      </a:r>
                      <a:r>
                        <a:rPr/>
                        <a:t> </a:t>
                      </a:r>
                      <a:r>
                        <a:rPr/>
                        <a:t>struggle</a:t>
                      </a:r>
                      <a:r>
                        <a:rPr/>
                        <a:t> </a:t>
                      </a:r>
                      <a:r>
                        <a:rPr/>
                        <a:t>with</a:t>
                      </a:r>
                      <a:r>
                        <a:rPr/>
                        <a:t> </a:t>
                      </a:r>
                      <a:r>
                        <a:rPr/>
                        <a:t>highly</a:t>
                      </a:r>
                      <a:r>
                        <a:rPr/>
                        <a:t> </a:t>
                      </a:r>
                      <a:r>
                        <a:rPr/>
                        <a:t>variable,</a:t>
                      </a:r>
                      <a:r>
                        <a:rPr/>
                        <a:t> </a:t>
                      </a:r>
                      <a:r>
                        <a:rPr/>
                        <a:t>non-relational</a:t>
                      </a:r>
                      <a:r>
                        <a:rPr/>
                        <a:t> </a:t>
                      </a:r>
                      <a:r>
                        <a:rPr/>
                        <a:t>data</a:t>
                      </a:r>
                    </a:p>
                  </a:txBody>
                </a:tc>
                <a:tc>
                  <a:txBody>
                    <a:bodyPr/>
                    <a:lstStyle/>
                    <a:p>
                      <a:pPr lvl="0" marL="0" indent="0">
                        <a:buNone/>
                      </a:pPr>
                      <a:r>
                        <a:rPr/>
                        <a:t>Best</a:t>
                      </a:r>
                      <a:r>
                        <a:rPr/>
                        <a:t> </a:t>
                      </a:r>
                      <a:r>
                        <a:rPr/>
                        <a:t>suited</a:t>
                      </a:r>
                      <a:r>
                        <a:rPr/>
                        <a:t> </a:t>
                      </a:r>
                      <a:r>
                        <a:rPr/>
                        <a:t>for</a:t>
                      </a:r>
                      <a:r>
                        <a:rPr/>
                        <a:t> </a:t>
                      </a:r>
                      <a:r>
                        <a:rPr/>
                        <a:t>simple</a:t>
                      </a:r>
                      <a:r>
                        <a:rPr/>
                        <a:t> </a:t>
                      </a:r>
                      <a:r>
                        <a:rPr/>
                        <a:t>queries</a:t>
                      </a:r>
                      <a:r>
                        <a:rPr/>
                        <a:t> </a:t>
                      </a:r>
                      <a:r>
                        <a:rPr/>
                        <a:t>and</a:t>
                      </a:r>
                      <a:r>
                        <a:rPr/>
                        <a:t> </a:t>
                      </a:r>
                      <a:r>
                        <a:rPr/>
                        <a:t>quick</a:t>
                      </a:r>
                      <a:r>
                        <a:rPr/>
                        <a:t> </a:t>
                      </a:r>
                      <a:r>
                        <a:rPr/>
                        <a:t>lookups</a:t>
                      </a:r>
                    </a:p>
                  </a:txBody>
                </a:tc>
                <a:tc>
                  <a:txBody>
                    <a:bodyPr/>
                    <a:lstStyle/>
                    <a:p>
                      <a:pPr lvl="0" marL="0" indent="0">
                        <a:buNone/>
                      </a:pPr>
                      <a:r>
                        <a:rPr/>
                        <a:t>More</a:t>
                      </a:r>
                      <a:r>
                        <a:rPr/>
                        <a:t> </a:t>
                      </a:r>
                      <a:r>
                        <a:rPr/>
                        <a:t>complex</a:t>
                      </a:r>
                      <a:r>
                        <a:rPr/>
                        <a:t> </a:t>
                      </a:r>
                      <a:r>
                        <a:rPr/>
                        <a:t>queries</a:t>
                      </a:r>
                      <a:r>
                        <a:rPr/>
                        <a:t> </a:t>
                      </a:r>
                      <a:r>
                        <a:rPr/>
                        <a:t>can</a:t>
                      </a:r>
                      <a:r>
                        <a:rPr/>
                        <a:t> </a:t>
                      </a:r>
                      <a:r>
                        <a:rPr/>
                        <a:t>require</a:t>
                      </a:r>
                      <a:r>
                        <a:rPr/>
                        <a:t> </a:t>
                      </a:r>
                      <a:r>
                        <a:rPr/>
                        <a:t>additional</a:t>
                      </a:r>
                      <a:r>
                        <a:rPr/>
                        <a:t> </a:t>
                      </a:r>
                      <a:r>
                        <a:rPr/>
                        <a:t>computing</a:t>
                      </a:r>
                      <a:r>
                        <a:rPr/>
                        <a:t> </a:t>
                      </a:r>
                      <a:r>
                        <a:rPr/>
                        <a:t>resources</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r>
              <a:rPr/>
              <a:t>This comparison helps to clarify the strengths and trade-offs of using relational versus NoSQL databases, depending on the specific needs of your application or business. Each type of database has distinct advantages that cater to different types of data models and workloads, ensuring they effectively meet the computing demands of modern applications. Let me know if you want to download this information in a certain format!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49</Words>
  <Application>Microsoft Office PowerPoint</Application>
  <PresentationFormat>On-screen Show (4:3)</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2025-12-17T11:07:31Z</dcterms:created>
  <dcterms:modified xsi:type="dcterms:W3CDTF">2025-12-17T11:07:31Z</dcterms:modified>
</cp:coreProperties>
</file>

<file path=docProps/custom.xml><?xml version="1.0" encoding="utf-8"?>
<Properties xmlns="http://schemas.openxmlformats.org/officeDocument/2006/custom-properties" xmlns:vt="http://schemas.openxmlformats.org/officeDocument/2006/docPropsVTypes"/>
</file>